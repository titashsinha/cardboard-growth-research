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599015f289430f" /><Relationship Type="http://schemas.openxmlformats.org/officeDocument/2006/relationships/extended-properties" Target="/docProps/app.xml" Id="Rf3611be2670a487b" /><Relationship Type="http://schemas.openxmlformats.org/officeDocument/2006/relationships/officeDocument" Target="/ppt/presentation.xml" Id="Raa612e71407e43c3" /></Relationships>
</file>

<file path=ppt/presentation.xml><?xml version="1.0" encoding="utf-8"?>
<p:presentation xmlns:p="http://schemas.openxmlformats.org/presentationml/2006/main">
  <p:sldMasterIdLst>
    <p:sldMasterId xmlns:r="http://schemas.openxmlformats.org/officeDocument/2006/relationships" id="2147483648" r:id="Race184a608364315"/>
  </p:sldMasterIdLst>
  <p:notesMasterIdLst>
    <p:notesMasterId xmlns:r="http://schemas.openxmlformats.org/officeDocument/2006/relationships" r:id="R2c77e8d619bf4484"/>
  </p:notesMasterIdLst>
  <p:sldIdLst>
    <p:sldId xmlns:r="http://schemas.openxmlformats.org/officeDocument/2006/relationships" id="256" r:id="R1af49c89c9674d7f"/>
    <p:sldId xmlns:r="http://schemas.openxmlformats.org/officeDocument/2006/relationships" id="257" r:id="R97f49f36765d4b15"/>
    <p:sldId xmlns:r="http://schemas.openxmlformats.org/officeDocument/2006/relationships" id="258" r:id="R01c6a81bce924186"/>
    <p:sldId xmlns:r="http://schemas.openxmlformats.org/officeDocument/2006/relationships" id="259" r:id="Re41c32640ec44b2a"/>
    <p:sldId xmlns:r="http://schemas.openxmlformats.org/officeDocument/2006/relationships" id="260" r:id="R858a6aa9fccb441d"/>
    <p:sldId xmlns:r="http://schemas.openxmlformats.org/officeDocument/2006/relationships" id="261" r:id="R377597e550a248a4"/>
    <p:sldId xmlns:r="http://schemas.openxmlformats.org/officeDocument/2006/relationships" id="262" r:id="R6e6a4f2a6b6b4c04"/>
    <p:sldId xmlns:r="http://schemas.openxmlformats.org/officeDocument/2006/relationships" id="263" r:id="R30af6ec1f89f4790"/>
    <p:sldId xmlns:r="http://schemas.openxmlformats.org/officeDocument/2006/relationships" id="264" r:id="Rd430859193e94c0b"/>
    <p:sldId xmlns:r="http://schemas.openxmlformats.org/officeDocument/2006/relationships" id="265" r:id="Re9390501eb9a43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143e835f7144ef" /><Relationship Type="http://schemas.openxmlformats.org/officeDocument/2006/relationships/slideMaster" Target="/ppt/slideMasters/slideMaster1.xml" Id="Race184a608364315" /><Relationship Type="http://schemas.openxmlformats.org/officeDocument/2006/relationships/notesMaster" Target="/ppt/notesMasters/notesMaster1.xml" Id="R2c77e8d619bf4484" /><Relationship Type="http://schemas.openxmlformats.org/officeDocument/2006/relationships/presProps" Target="/ppt/presProps.xml" Id="R559e599eb71c4d4e" /><Relationship Type="http://schemas.openxmlformats.org/officeDocument/2006/relationships/tableStyles" Target="/ppt/tableStyles.xml" Id="R2fce294bb73145a1" /><Relationship Type="http://schemas.openxmlformats.org/officeDocument/2006/relationships/slide" Target="/ppt/slides/slide1.xml" Id="R1af49c89c9674d7f" /><Relationship Type="http://schemas.openxmlformats.org/officeDocument/2006/relationships/slide" Target="/ppt/slides/slide2.xml" Id="R97f49f36765d4b15" /><Relationship Type="http://schemas.openxmlformats.org/officeDocument/2006/relationships/slide" Target="/ppt/slides/slide3.xml" Id="R01c6a81bce924186" /><Relationship Type="http://schemas.openxmlformats.org/officeDocument/2006/relationships/slide" Target="/ppt/slides/slide4.xml" Id="Re41c32640ec44b2a" /><Relationship Type="http://schemas.openxmlformats.org/officeDocument/2006/relationships/slide" Target="/ppt/slides/slide5.xml" Id="R858a6aa9fccb441d" /><Relationship Type="http://schemas.openxmlformats.org/officeDocument/2006/relationships/slide" Target="/ppt/slides/slide6.xml" Id="R377597e550a248a4" /><Relationship Type="http://schemas.openxmlformats.org/officeDocument/2006/relationships/slide" Target="/ppt/slides/slide7.xml" Id="R6e6a4f2a6b6b4c04" /><Relationship Type="http://schemas.openxmlformats.org/officeDocument/2006/relationships/slide" Target="/ppt/slides/slide8.xml" Id="R30af6ec1f89f4790" /><Relationship Type="http://schemas.openxmlformats.org/officeDocument/2006/relationships/slide" Target="/ppt/slides/slide9.xml" Id="Rd430859193e94c0b" /><Relationship Type="http://schemas.openxmlformats.org/officeDocument/2006/relationships/slide" Target="/ppt/slides/slide10.xml" Id="Re9390501eb9a43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2837865a8541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881cd2691f49ba" /><Relationship Type="http://schemas.openxmlformats.org/officeDocument/2006/relationships/notesMaster" Target="/ppt/notesMasters/notesMaster1.xml" Id="R60154ee290f949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5b631bc78346ad" /><Relationship Type="http://schemas.openxmlformats.org/officeDocument/2006/relationships/notesMaster" Target="/ppt/notesMasters/notesMaster1.xml" Id="R99c72505705d44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635da434114ad6" /><Relationship Type="http://schemas.openxmlformats.org/officeDocument/2006/relationships/notesMaster" Target="/ppt/notesMasters/notesMaster1.xml" Id="R693cf431cfdd44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022caba8c343da" /><Relationship Type="http://schemas.openxmlformats.org/officeDocument/2006/relationships/notesMaster" Target="/ppt/notesMasters/notesMaster1.xml" Id="R75d000f556764c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87f7317ca545f7" /><Relationship Type="http://schemas.openxmlformats.org/officeDocument/2006/relationships/notesMaster" Target="/ppt/notesMasters/notesMaster1.xml" Id="Rb0c501a9aa174e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86cb10e826467a" /><Relationship Type="http://schemas.openxmlformats.org/officeDocument/2006/relationships/notesMaster" Target="/ppt/notesMasters/notesMaster1.xml" Id="R156aab423d8348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31f13e85854da0" /><Relationship Type="http://schemas.openxmlformats.org/officeDocument/2006/relationships/notesMaster" Target="/ppt/notesMasters/notesMaster1.xml" Id="R1f2ca08bde2741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090ec799884dc0" /><Relationship Type="http://schemas.openxmlformats.org/officeDocument/2006/relationships/notesMaster" Target="/ppt/notesMasters/notesMaster1.xml" Id="R06a5413ac6ef41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e7c6e058d74be7" /><Relationship Type="http://schemas.openxmlformats.org/officeDocument/2006/relationships/notesMaster" Target="/ppt/notesMasters/notesMaster1.xml" Id="Rcc7d4473db2249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924a51188d411b" /><Relationship Type="http://schemas.openxmlformats.org/officeDocument/2006/relationships/notesMaster" Target="/ppt/notesMasters/notesMaster1.xml" Id="Rbaf35056368645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README.md; quality/final-repository-review-2026-10-06.md; D040/D041 in decisions.md. Independent package, unpublished, no Cardboard account/internal access. EX01 stopped with partial exploratory evidence. No company growth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specifically inspected official articles: research/product-audit.md, research/offer-refresh-2026-10-04.md and research/website-hygiene.md. Dates October 2–4, 2026. Exact comparisons retained there; not a census. Sources https://www.cardboard.ai/pricing and three dated blog routes. No lost-signup/comprehension evidence. Historical claims not current access terms.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research/evidence-summary.json and research/collection-method.md: 20 original Google observations, 12 completed ChatGPT observations, 72 source entries. Original Google lists incomplete/location unknown. ChatGPT cohorts differ/date/effort, branded controls and repeated wording. Separate October 5 India/English cohort: research/google-followup-summary-2026-10-05.json and review; 5 queries, 10 page captures, 92 headings, 0 owned, 1 third-party YC Cardboard heading. Not comparable rank trend.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Generalized observations only: experiments/workflow-fit/collection-closeout-2026-10-06.md and content/revisions/01-workflow-switch-v1.2-notes.md. Private mappings/exact replies outside Git. No frequency, eligible buyer count or representative inference. Some accounts are maker/service-provider context, eligibility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basis: experiments/workflow-fit/reply-evidence-summary-2026-10-06.md and D043. Retained private audit/ledger observations support generalized workflow learning. Exact replies and identities outside Git. Original structured protocol and closeout preserved, not executed as designed. Worksheet participation is not an admission criterion for this conversation synthesis. Named-brand questions yield prompted opinions, not unaided awareness. No Cardboard performance or purchase behavior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Article before: content/blogs/01-workflow-switch.md and content/revisions/01-workflow-switch-seo-v1.1.md. After: content/revisions/01-workflow-switch-evidence-v1.2.md. Reasoning: 01-workflow-switch-v1.2-notes.md. Aid v2: experiments/workflow-fit/materials/decision-aid-v2-exploratory.md; revision-log.md. Codex synthesized/drafted under Titash authorization. No respondent review or aid-task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research/artifact-manifest.json lists five current drafts and brief references. Article 1 v1.2 plus corrected articles 2–5. quality/final-editorial-review-2026-10-06.md: distinct jobs, narrow coverage rereads, publication gates. Page: content/conversion/saas-demo-evaluation-page-v1.md and notes. Illustrative storyboard not product output. Drafts unpublished; exact-query/canonical/company approval and public routes remain release dependencies.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strategy/funnel.md, strategy/measurement-plan.md, strategy/measurement-events.csv: six AAARRR stages, 12 proposed event contracts. Activation useful delivery within 7 days provisional; retention distinct job in 30 days provisional; revenue settled positive access, refunds/net distinct; payment may precede delivery so revenue denominator unpaid at entry. Referral attributable eligible new account useful delivery. No implementation, baseline or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strategy/experiment-backlog.md: EX02 page comprehension, EX03 conditional offer comprehension, EX04 genuine correction comparison, EX05 article usefulness, EX06 company commercial route. Five proposals, not run/authorized. Small pilots are formative, not population or conversion estimates. Existing measurement event contracts reused. No new outreach/account/spend/publication authorized.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strategy/contribution-log.md; decisions.md D040/D041; quality/final-repository-review-2026-10-06.md. Titash chose incumbent adequacy first and authorized evidence-bound revisions/package. Codex performed public research, synthesis/drafting and package checks; other AI drafted supplied articles, corrected here. Founder refreshed October 6 via https://www.ycombinator.com/companies/cardboard and https://www.cardboard.ai/; pitch outreach/founder-message.md remains unsent, repo private/access not granted.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7b52a37e2649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06bccb3e96452e" /><Relationship Type="http://schemas.openxmlformats.org/officeDocument/2006/relationships/slideLayout" Target="/ppt/slideLayouts/slideLayout1.xml" Id="Rc02753cad67b40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2753cad67b40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5a7637c95d48e6" /><Relationship Type="http://schemas.openxmlformats.org/officeDocument/2006/relationships/notesSlide" Target="/ppt/notesSlides/notesSlide1.xml" Id="Rc8486d32c2384f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038e1f32674714" /><Relationship Type="http://schemas.openxmlformats.org/officeDocument/2006/relationships/notesSlide" Target="/ppt/notesSlides/notesSlide2.xml" Id="R52d97bf884564a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9b796e6912c4a80" /><Relationship Type="http://schemas.openxmlformats.org/officeDocument/2006/relationships/notesSlide" Target="/ppt/notesSlides/notesSlide3.xml" Id="Rfca3e3a582314a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17e31a57dc4115" /><Relationship Type="http://schemas.openxmlformats.org/officeDocument/2006/relationships/notesSlide" Target="/ppt/notesSlides/notesSlide4.xml" Id="R3298f1172bd34b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f61a2b53eaa41e1" /><Relationship Type="http://schemas.openxmlformats.org/officeDocument/2006/relationships/notesSlide" Target="/ppt/notesSlides/notesSlide5.xml" Id="R45313787710a4d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2413c2fcbd4ff2" /><Relationship Type="http://schemas.openxmlformats.org/officeDocument/2006/relationships/notesSlide" Target="/ppt/notesSlides/notesSlide6.xml" Id="R00ae2abd41ad4f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6488d9d0974aa0" /><Relationship Type="http://schemas.openxmlformats.org/officeDocument/2006/relationships/notesSlide" Target="/ppt/notesSlides/notesSlide7.xml" Id="R6d5dbe013d3d4d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0dd9177d2349b8" /><Relationship Type="http://schemas.openxmlformats.org/officeDocument/2006/relationships/notesSlide" Target="/ppt/notesSlides/notesSlide8.xml" Id="Rb994c8d9a086444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34c2bd35ef24847" /><Relationship Type="http://schemas.openxmlformats.org/officeDocument/2006/relationships/notesSlide" Target="/ppt/notesSlides/notesSlide9.xml" Id="Ra8e2760fbb8b43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325daf82794dbb" /><Relationship Type="http://schemas.openxmlformats.org/officeDocument/2006/relationships/notesSlide" Target="/ppt/notesSlides/notesSlide10.xml" Id="R478b00288dc54087" /></Relationships>
</file>

<file path=ppt/slides/slide1.xml><?xml version="1.0" encoding="utf-8"?>
<p:sld xmlns:p="http://schemas.openxmlformats.org/presentationml/2006/main">
  <p:cSld>
    <p:bg>
      <p:bgPr>
        <a:solidFill xmlns:a="http://schemas.openxmlformats.org/drawingml/2006/main">
          <a:srgbClr val="202D2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219B5C-7498-4CF5-9C69-27B7B8EDEB31}"/>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5D8CB"/>
                </a:solidFill>
                <a:latin typeface="Arial"/>
                <a:ea typeface="Arial"/>
                <a:cs typeface="Arial"/>
              </a:defRPr>
            </a:pPr>
            <a:r>
              <a:rPr sz="1350" b="1">
                <a:solidFill>
                  <a:srgbClr val="D5D8CB"/>
                </a:solidFill>
                <a:latin typeface="Arial"/>
                <a:ea typeface="Arial"/>
                <a:cs typeface="Arial"/>
              </a:rPr>
              <a:t>GROWTH RESEARCH + EDITORIAL WORK</a:t>
            </a:r>
          </a:p>
        </p:txBody>
      </p:sp>
      <p:sp>
        <p:nvSpPr>
          <p:cNvPr id="2" name="">
            <a:extLst xmlns:a="http://schemas.openxmlformats.org/drawingml/2006/main">
              <a:ext uri="{FF2B5EF4-FFF2-40B4-BE49-F238E27FC236}">
                <a16:creationId xmlns:a16="http://schemas.microsoft.com/office/drawing/2014/main" id="{A6841FF9-B7D2-4135-9C3C-072418B7A2D3}"/>
              </a:ext>
            </a:extLst>
          </p:cNvPr>
          <p:cNvSpPr>
            <a:spLocks xmlns:a="http://schemas.openxmlformats.org/drawingml/2006/main" noGrp="1"/>
          </p:cNvSpPr>
          <p:nvPr/>
        </p:nvSpPr>
        <p:spPr>
          <a:xfrm xmlns:a="http://schemas.openxmlformats.org/drawingml/2006/main">
            <a:off x="609600" y="838200"/>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4F1E9"/>
                </a:solidFill>
                <a:latin typeface="Arial"/>
                <a:ea typeface="Arial"/>
                <a:cs typeface="Arial"/>
              </a:defRPr>
            </a:pPr>
            <a:r>
              <a:rPr sz="3300" b="1">
                <a:solidFill>
                  <a:srgbClr val="F4F1E9"/>
                </a:solidFill>
                <a:latin typeface="Arial"/>
                <a:ea typeface="Arial"/>
                <a:cs typeface="Arial"/>
              </a:rPr>
              <a:t>Cardboard</a:t>
            </a:r>
          </a:p>
          <a:p xmlns:a="http://schemas.openxmlformats.org/drawingml/2006/main">
            <a:pPr>
              <a:defRPr sz="3300" b="1">
                <a:solidFill>
                  <a:srgbClr val="F4F1E9"/>
                </a:solidFill>
                <a:latin typeface="Arial"/>
                <a:ea typeface="Arial"/>
                <a:cs typeface="Arial"/>
              </a:defRPr>
            </a:pPr>
            <a:r>
              <a:rPr sz="3300" b="1">
                <a:solidFill>
                  <a:srgbClr val="F4F1E9"/>
                </a:solidFill>
                <a:latin typeface="Arial"/>
                <a:ea typeface="Arial"/>
                <a:cs typeface="Arial"/>
              </a:rPr>
              <a:t>Workflow learning into useful content</a:t>
            </a:r>
          </a:p>
        </p:txBody>
      </p:sp>
      <p:sp>
        <p:nvSpPr>
          <p:cNvPr id="3" name="">
            <a:extLst xmlns:a="http://schemas.openxmlformats.org/drawingml/2006/main">
              <a:ext uri="{FF2B5EF4-FFF2-40B4-BE49-F238E27FC236}">
                <a16:creationId xmlns:a16="http://schemas.microsoft.com/office/drawing/2014/main" id="{7D416187-F1D6-4882-871B-AE405495CC3E}"/>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56635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D90FD05-7CA8-49DC-A354-57ECCFA8384E}"/>
              </a:ext>
            </a:extLst>
          </p:cNvPr>
          <p:cNvSpPr>
            <a:spLocks xmlns:a="http://schemas.openxmlformats.org/drawingml/2006/main" noGrp="1"/>
          </p:cNvSpPr>
          <p:nvPr/>
        </p:nvSpPr>
        <p:spPr>
          <a:xfrm xmlns:a="http://schemas.openxmlformats.org/drawingml/2006/main">
            <a:off x="6096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5D8CB"/>
                </a:solidFill>
                <a:latin typeface="Arial"/>
                <a:ea typeface="Arial"/>
                <a:cs typeface="Arial"/>
              </a:defRPr>
            </a:pPr>
            <a:r>
              <a:rPr sz="1200" b="0">
                <a:solidFill>
                  <a:srgbClr val="D5D8CB"/>
                </a:solidFill>
                <a:latin typeface="Arial"/>
                <a:ea typeface="Arial"/>
                <a:cs typeface="Arial"/>
              </a:rPr>
              <a:t>Titash Sinha  /  Independent, AI-assisted work sample  /  6 October 2026</a:t>
            </a:r>
          </a:p>
        </p:txBody>
      </p:sp>
      <p:sp>
        <p:nvSpPr>
          <p:cNvPr id="5" name="">
            <a:extLst xmlns:a="http://schemas.openxmlformats.org/drawingml/2006/main">
              <a:ext uri="{FF2B5EF4-FFF2-40B4-BE49-F238E27FC236}">
                <a16:creationId xmlns:a16="http://schemas.microsoft.com/office/drawing/2014/main" id="{27A9D4B2-5286-4FC8-91E8-2D878E9F8E11}"/>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5D8CB"/>
                </a:solidFill>
                <a:latin typeface="Arial"/>
                <a:ea typeface="Arial"/>
                <a:cs typeface="Arial"/>
              </a:defRPr>
            </a:pPr>
            <a:r>
              <a:rPr sz="1200" b="0">
                <a:solidFill>
                  <a:srgbClr val="D5D8CB"/>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BE22F9A7-16C5-4A9B-B9FA-2E8B57CF121C}"/>
              </a:ext>
            </a:extLst>
          </p:cNvPr>
          <p:cNvSpPr>
            <a:spLocks xmlns:a="http://schemas.openxmlformats.org/drawingml/2006/main" noGrp="1"/>
          </p:cNvSpPr>
          <p:nvPr/>
        </p:nvSpPr>
        <p:spPr>
          <a:xfrm xmlns:a="http://schemas.openxmlformats.org/drawingml/2006/main">
            <a:off x="609600" y="3143250"/>
            <a:ext cx="9715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F4F1E9"/>
                </a:solidFill>
                <a:latin typeface="Arial"/>
                <a:ea typeface="Arial"/>
                <a:cs typeface="Arial"/>
              </a:defRPr>
            </a:pPr>
            <a:r>
              <a:rPr sz="2850" b="0">
                <a:solidFill>
                  <a:srgbClr val="F4F1E9"/>
                </a:solidFill>
                <a:latin typeface="Arial"/>
                <a:ea typeface="Arial"/>
                <a:cs typeface="Arial"/>
              </a:rPr>
              <a:t>Identify the work that needs help.</a:t>
            </a:r>
          </a:p>
          <a:p xmlns:a="http://schemas.openxmlformats.org/drawingml/2006/main">
            <a:pPr>
              <a:defRPr sz="2850" b="0">
                <a:solidFill>
                  <a:srgbClr val="F4F1E9"/>
                </a:solidFill>
                <a:latin typeface="Arial"/>
                <a:ea typeface="Arial"/>
                <a:cs typeface="Arial"/>
              </a:defRPr>
            </a:pPr>
            <a:r>
              <a:rPr sz="2850" b="0">
                <a:solidFill>
                  <a:srgbClr val="F4F1E9"/>
                </a:solidFill>
                <a:latin typeface="Arial"/>
                <a:ea typeface="Arial"/>
                <a:cs typeface="Arial"/>
              </a:rPr>
              <a:t>Keep the editor that already works.</a:t>
            </a:r>
          </a:p>
        </p:txBody>
      </p:sp>
      <p:sp>
        <p:nvSpPr>
          <p:cNvPr id="7" name="">
            <a:extLst xmlns:a="http://schemas.openxmlformats.org/drawingml/2006/main">
              <a:ext uri="{FF2B5EF4-FFF2-40B4-BE49-F238E27FC236}">
                <a16:creationId xmlns:a16="http://schemas.microsoft.com/office/drawing/2014/main" id="{23333193-1988-4D35-A392-C59CD75375A2}"/>
              </a:ext>
            </a:extLst>
          </p:cNvPr>
          <p:cNvSpPr>
            <a:spLocks xmlns:a="http://schemas.openxmlformats.org/drawingml/2006/main" noGrp="1"/>
          </p:cNvSpPr>
          <p:nvPr/>
        </p:nvSpPr>
        <p:spPr>
          <a:xfrm xmlns:a="http://schemas.openxmlformats.org/drawingml/2006/main">
            <a:off x="609600" y="501015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5D8CB"/>
                </a:solidFill>
                <a:latin typeface="Arial"/>
                <a:ea typeface="Arial"/>
                <a:cs typeface="Arial"/>
              </a:defRPr>
            </a:pPr>
            <a:r>
              <a:rPr sz="1800" b="0">
                <a:solidFill>
                  <a:srgbClr val="D5D8CB"/>
                </a:solidFill>
                <a:latin typeface="Arial"/>
                <a:ea typeface="Arial"/>
                <a:cs typeface="Arial"/>
              </a:rPr>
              <a:t>Research  →  exploratory learning  →  articles + evaluation copy  →  proposed tests</a:t>
            </a:r>
          </a:p>
        </p:txBody>
      </p:sp>
    </p:spTree>
    <p:extLst>
      <p:ext uri="{BB962C8B-B14F-4D97-AF65-F5344CB8AC3E}">
        <p14:creationId xmlns:p14="http://schemas.microsoft.com/office/powerpoint/2010/main" val="1584156548"/>
      </p:ext>
    </p:extLst>
  </p:cSld>
</p:sld>
</file>

<file path=ppt/slides/slide2.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07BBB94-D8B4-4E22-AEA7-51219C8BECD0}"/>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D562F"/>
                </a:solidFill>
                <a:latin typeface="Arial"/>
                <a:ea typeface="Arial"/>
                <a:cs typeface="Arial"/>
              </a:defRPr>
            </a:pPr>
            <a:r>
              <a:rPr sz="1350" b="1">
                <a:solidFill>
                  <a:srgbClr val="AD562F"/>
                </a:solidFill>
                <a:latin typeface="Arial"/>
                <a:ea typeface="Arial"/>
                <a:cs typeface="Arial"/>
              </a:rPr>
              <a:t>OBSERVATION</a:t>
            </a:r>
          </a:p>
        </p:txBody>
      </p:sp>
      <p:sp>
        <p:nvSpPr>
          <p:cNvPr id="2" name="">
            <a:extLst xmlns:a="http://schemas.openxmlformats.org/drawingml/2006/main">
              <a:ext uri="{FF2B5EF4-FFF2-40B4-BE49-F238E27FC236}">
                <a16:creationId xmlns:a16="http://schemas.microsoft.com/office/drawing/2014/main" id="{85D0942D-5CB6-4C8A-B329-16EC4A162524}"/>
              </a:ext>
            </a:extLst>
          </p:cNvPr>
          <p:cNvSpPr>
            <a:spLocks xmlns:a="http://schemas.openxmlformats.org/drawingml/2006/main" noGrp="1"/>
          </p:cNvSpPr>
          <p:nvPr/>
        </p:nvSpPr>
        <p:spPr>
          <a:xfrm xmlns:a="http://schemas.openxmlformats.org/drawingml/2006/main">
            <a:off x="609600" y="838200"/>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A specific offer inconsistency,</a:t>
            </a:r>
          </a:p>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with an unmeasured business effect</a:t>
            </a:r>
          </a:p>
        </p:txBody>
      </p:sp>
      <p:sp>
        <p:nvSpPr>
          <p:cNvPr id="3" name="">
            <a:extLst xmlns:a="http://schemas.openxmlformats.org/drawingml/2006/main">
              <a:ext uri="{FF2B5EF4-FFF2-40B4-BE49-F238E27FC236}">
                <a16:creationId xmlns:a16="http://schemas.microsoft.com/office/drawing/2014/main" id="{447FCDD5-DE82-4A30-9201-2AC601C339A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4CFB3B-DDF6-4289-9A46-0C7D1DDCF226}"/>
              </a:ext>
            </a:extLst>
          </p:cNvPr>
          <p:cNvSpPr>
            <a:spLocks xmlns:a="http://schemas.openxmlformats.org/drawingml/2006/main" noGrp="1"/>
          </p:cNvSpPr>
          <p:nvPr/>
        </p:nvSpPr>
        <p:spPr>
          <a:xfrm xmlns:a="http://schemas.openxmlformats.org/drawingml/2006/main">
            <a:off x="6096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Titash Sinha  /  Independent, AI-assisted work sample  /  6 October 2026</a:t>
            </a:r>
          </a:p>
        </p:txBody>
      </p:sp>
      <p:sp>
        <p:nvSpPr>
          <p:cNvPr id="5" name="">
            <a:extLst xmlns:a="http://schemas.openxmlformats.org/drawingml/2006/main">
              <a:ext uri="{FF2B5EF4-FFF2-40B4-BE49-F238E27FC236}">
                <a16:creationId xmlns:a16="http://schemas.microsoft.com/office/drawing/2014/main" id="{AA9800F3-D4D2-440F-850B-276D109D9CCC}"/>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6336AECE-03BC-4288-BC0D-196D1E4B43B2}"/>
              </a:ext>
            </a:extLst>
          </p:cNvPr>
          <p:cNvSpPr>
            <a:spLocks xmlns:a="http://schemas.openxmlformats.org/drawingml/2006/main" noGrp="1"/>
          </p:cNvSpPr>
          <p:nvPr/>
        </p:nvSpPr>
        <p:spPr>
          <a:xfrm xmlns:a="http://schemas.openxmlformats.org/drawingml/2006/main">
            <a:off x="609600" y="2238375"/>
            <a:ext cx="1714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AD562F"/>
                </a:solidFill>
                <a:latin typeface="Arial"/>
                <a:ea typeface="Arial"/>
                <a:cs typeface="Arial"/>
              </a:defRPr>
            </a:pPr>
            <a:r>
              <a:rPr sz="7200" b="1">
                <a:solidFill>
                  <a:srgbClr val="AD562F"/>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2056A1BF-9BF7-43D8-882D-6D9FC5AAFD2E}"/>
              </a:ext>
            </a:extLst>
          </p:cNvPr>
          <p:cNvSpPr>
            <a:spLocks xmlns:a="http://schemas.openxmlformats.org/drawingml/2006/main" noGrp="1"/>
          </p:cNvSpPr>
          <p:nvPr/>
        </p:nvSpPr>
        <p:spPr>
          <a:xfrm xmlns:a="http://schemas.openxmlformats.org/drawingml/2006/main">
            <a:off x="2362200" y="2381250"/>
            <a:ext cx="7620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02D2A"/>
                </a:solidFill>
                <a:latin typeface="Arial"/>
                <a:ea typeface="Arial"/>
                <a:cs typeface="Arial"/>
              </a:defRPr>
            </a:pPr>
            <a:r>
              <a:rPr sz="2250" b="1">
                <a:solidFill>
                  <a:srgbClr val="202D2A"/>
                </a:solidFill>
                <a:latin typeface="Arial"/>
                <a:ea typeface="Arial"/>
                <a:cs typeface="Arial"/>
              </a:rPr>
              <a:t>checked official articles</a:t>
            </a:r>
          </a:p>
        </p:txBody>
      </p:sp>
      <p:sp>
        <p:nvSpPr>
          <p:cNvPr id="8" name="">
            <a:extLst xmlns:a="http://schemas.openxmlformats.org/drawingml/2006/main">
              <a:ext uri="{FF2B5EF4-FFF2-40B4-BE49-F238E27FC236}">
                <a16:creationId xmlns:a16="http://schemas.microsoft.com/office/drawing/2014/main" id="{B7F42ABD-C5AE-46EE-BAA0-3D35B8D94266}"/>
              </a:ext>
            </a:extLst>
          </p:cNvPr>
          <p:cNvSpPr>
            <a:spLocks xmlns:a="http://schemas.openxmlformats.org/drawingml/2006/main" noGrp="1"/>
          </p:cNvSpPr>
          <p:nvPr/>
        </p:nvSpPr>
        <p:spPr>
          <a:xfrm xmlns:a="http://schemas.openxmlformats.org/drawingml/2006/main">
            <a:off x="2362200" y="2933700"/>
            <a:ext cx="819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Offer claims differed from the inspected pricing display or from one another.</a:t>
            </a:r>
          </a:p>
        </p:txBody>
      </p:sp>
      <p:sp>
        <p:nvSpPr>
          <p:cNvPr id="9" name="">
            <a:extLst xmlns:a="http://schemas.openxmlformats.org/drawingml/2006/main">
              <a:ext uri="{FF2B5EF4-FFF2-40B4-BE49-F238E27FC236}">
                <a16:creationId xmlns:a16="http://schemas.microsoft.com/office/drawing/2014/main" id="{BF972333-7CF2-4F2C-B7D3-2EDB7A7756F0}"/>
              </a:ext>
            </a:extLst>
          </p:cNvPr>
          <p:cNvSpPr>
            <a:spLocks xmlns:a="http://schemas.openxmlformats.org/drawingml/2006/main" noGrp="1"/>
          </p:cNvSpPr>
          <p:nvPr/>
        </p:nvSpPr>
        <p:spPr>
          <a:xfrm xmlns:a="http://schemas.openxmlformats.org/drawingml/2006/main">
            <a:off x="609600" y="43624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D562F"/>
                </a:solidFill>
                <a:latin typeface="Arial"/>
                <a:ea typeface="Arial"/>
                <a:cs typeface="Arial"/>
              </a:defRPr>
            </a:pPr>
            <a:r>
              <a:rPr sz="1800" b="1">
                <a:solidFill>
                  <a:srgbClr val="AD562F"/>
                </a:solidFill>
                <a:latin typeface="Arial"/>
                <a:ea typeface="Arial"/>
                <a:cs typeface="Arial"/>
              </a:rPr>
              <a:t>WHAT THIS ESTABLISHES</a:t>
            </a:r>
          </a:p>
        </p:txBody>
      </p:sp>
      <p:sp>
        <p:nvSpPr>
          <p:cNvPr id="10" name="">
            <a:extLst xmlns:a="http://schemas.openxmlformats.org/drawingml/2006/main">
              <a:ext uri="{FF2B5EF4-FFF2-40B4-BE49-F238E27FC236}">
                <a16:creationId xmlns:a16="http://schemas.microsoft.com/office/drawing/2014/main" id="{512D0062-9DA6-4ABA-97C4-AB4DCAEA1B0B}"/>
              </a:ext>
            </a:extLst>
          </p:cNvPr>
          <p:cNvSpPr>
            <a:spLocks xmlns:a="http://schemas.openxmlformats.org/drawingml/2006/main" noGrp="1"/>
          </p:cNvSpPr>
          <p:nvPr/>
        </p:nvSpPr>
        <p:spPr>
          <a:xfrm xmlns:a="http://schemas.openxmlformats.org/drawingml/2006/main">
            <a:off x="609600" y="48196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Information needs reconciliation.</a:t>
            </a:r>
          </a:p>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Confirm the source of offer truth.</a:t>
            </a:r>
          </a:p>
        </p:txBody>
      </p:sp>
      <p:sp>
        <p:nvSpPr>
          <p:cNvPr id="11" name="">
            <a:extLst xmlns:a="http://schemas.openxmlformats.org/drawingml/2006/main">
              <a:ext uri="{FF2B5EF4-FFF2-40B4-BE49-F238E27FC236}">
                <a16:creationId xmlns:a16="http://schemas.microsoft.com/office/drawing/2014/main" id="{2D3CE931-4133-4D2A-8875-6F1846B71FFB}"/>
              </a:ext>
            </a:extLst>
          </p:cNvPr>
          <p:cNvSpPr>
            <a:spLocks xmlns:a="http://schemas.openxmlformats.org/drawingml/2006/main" noGrp="1"/>
          </p:cNvSpPr>
          <p:nvPr/>
        </p:nvSpPr>
        <p:spPr>
          <a:xfrm xmlns:a="http://schemas.openxmlformats.org/drawingml/2006/main">
            <a:off x="6381750" y="43624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D562F"/>
                </a:solidFill>
                <a:latin typeface="Arial"/>
                <a:ea typeface="Arial"/>
                <a:cs typeface="Arial"/>
              </a:defRPr>
            </a:pPr>
            <a:r>
              <a:rPr sz="1800" b="1">
                <a:solidFill>
                  <a:srgbClr val="AD562F"/>
                </a:solidFill>
                <a:latin typeface="Arial"/>
                <a:ea typeface="Arial"/>
                <a:cs typeface="Arial"/>
              </a:rPr>
              <a:t>WHAT TO TEST NEXT</a:t>
            </a:r>
          </a:p>
        </p:txBody>
      </p:sp>
      <p:sp>
        <p:nvSpPr>
          <p:cNvPr id="12" name="">
            <a:extLst xmlns:a="http://schemas.openxmlformats.org/drawingml/2006/main">
              <a:ext uri="{FF2B5EF4-FFF2-40B4-BE49-F238E27FC236}">
                <a16:creationId xmlns:a16="http://schemas.microsoft.com/office/drawing/2014/main" id="{FEBC0D56-160D-4A0C-ACB1-FA7A7FF5DB35}"/>
              </a:ext>
            </a:extLst>
          </p:cNvPr>
          <p:cNvSpPr>
            <a:spLocks xmlns:a="http://schemas.openxmlformats.org/drawingml/2006/main" noGrp="1"/>
          </p:cNvSpPr>
          <p:nvPr/>
        </p:nvSpPr>
        <p:spPr>
          <a:xfrm xmlns:a="http://schemas.openxmlformats.org/drawingml/2006/main">
            <a:off x="6381750" y="4819650"/>
            <a:ext cx="5191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Can a relevant reader explain access</a:t>
            </a:r>
          </a:p>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and choose a truthful next action?</a:t>
            </a:r>
          </a:p>
        </p:txBody>
      </p:sp>
      <p:sp>
        <p:nvSpPr>
          <p:cNvPr id="13" name="">
            <a:extLst xmlns:a="http://schemas.openxmlformats.org/drawingml/2006/main">
              <a:ext uri="{FF2B5EF4-FFF2-40B4-BE49-F238E27FC236}">
                <a16:creationId xmlns:a16="http://schemas.microsoft.com/office/drawing/2014/main" id="{C47100C0-8E73-4CB6-B99F-B0DDC43AB441}"/>
              </a:ext>
            </a:extLst>
          </p:cNvPr>
          <p:cNvSpPr>
            <a:spLocks xmlns:a="http://schemas.openxmlformats.org/drawingml/2006/main" noGrp="1"/>
          </p:cNvSpPr>
          <p:nvPr/>
        </p:nvSpPr>
        <p:spPr>
          <a:xfrm xmlns:a="http://schemas.openxmlformats.org/drawingml/2006/main">
            <a:off x="609600" y="5743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35C"/>
                </a:solidFill>
                <a:latin typeface="Arial"/>
                <a:ea typeface="Arial"/>
                <a:cs typeface="Arial"/>
              </a:defRPr>
            </a:pPr>
            <a:r>
              <a:rPr sz="1425" b="0">
                <a:solidFill>
                  <a:srgbClr val="56635C"/>
                </a:solidFill>
                <a:latin typeface="Arial"/>
                <a:ea typeface="Arial"/>
                <a:cs typeface="Arial"/>
              </a:rPr>
              <a:t>No measured buyer confusion, conversion loss or revenue effect.</a:t>
            </a:r>
          </a:p>
        </p:txBody>
      </p:sp>
    </p:spTree>
    <p:extLst>
      <p:ext uri="{BB962C8B-B14F-4D97-AF65-F5344CB8AC3E}">
        <p14:creationId xmlns:p14="http://schemas.microsoft.com/office/powerpoint/2010/main" val="808870577"/>
      </p:ext>
    </p:extLst>
  </p:cSld>
</p:sld>
</file>

<file path=ppt/slides/slide3.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A32BED0-D066-48FE-8354-BEE86A9CC493}"/>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D562F"/>
                </a:solidFill>
                <a:latin typeface="Arial"/>
                <a:ea typeface="Arial"/>
                <a:cs typeface="Arial"/>
              </a:defRPr>
            </a:pPr>
            <a:r>
              <a:rPr sz="1350" b="1">
                <a:solidFill>
                  <a:srgbClr val="AD562F"/>
                </a:solidFill>
                <a:latin typeface="Arial"/>
                <a:ea typeface="Arial"/>
                <a:cs typeface="Arial"/>
              </a:rPr>
              <a:t>RESEARCH SCOPE</a:t>
            </a:r>
          </a:p>
        </p:txBody>
      </p:sp>
      <p:sp>
        <p:nvSpPr>
          <p:cNvPr id="2" name="">
            <a:extLst xmlns:a="http://schemas.openxmlformats.org/drawingml/2006/main">
              <a:ext uri="{FF2B5EF4-FFF2-40B4-BE49-F238E27FC236}">
                <a16:creationId xmlns:a16="http://schemas.microsoft.com/office/drawing/2014/main" id="{CB906CA3-097B-4CE8-A57F-ACDB75F4269D}"/>
              </a:ext>
            </a:extLst>
          </p:cNvPr>
          <p:cNvSpPr>
            <a:spLocks xmlns:a="http://schemas.openxmlformats.org/drawingml/2006/main" noGrp="1"/>
          </p:cNvSpPr>
          <p:nvPr/>
        </p:nvSpPr>
        <p:spPr>
          <a:xfrm xmlns:a="http://schemas.openxmlformats.org/drawingml/2006/main">
            <a:off x="609600" y="838200"/>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Discovery is a bounded inventory,</a:t>
            </a:r>
          </a:p>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not a market-wide visibility verdict</a:t>
            </a:r>
          </a:p>
        </p:txBody>
      </p:sp>
      <p:sp>
        <p:nvSpPr>
          <p:cNvPr id="3" name="">
            <a:extLst xmlns:a="http://schemas.openxmlformats.org/drawingml/2006/main">
              <a:ext uri="{FF2B5EF4-FFF2-40B4-BE49-F238E27FC236}">
                <a16:creationId xmlns:a16="http://schemas.microsoft.com/office/drawing/2014/main" id="{EDEA14B1-F72E-4975-A9C3-B3EE37E03D11}"/>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F5AA71-D765-41E3-9006-60E1D1C10A2D}"/>
              </a:ext>
            </a:extLst>
          </p:cNvPr>
          <p:cNvSpPr>
            <a:spLocks xmlns:a="http://schemas.openxmlformats.org/drawingml/2006/main" noGrp="1"/>
          </p:cNvSpPr>
          <p:nvPr/>
        </p:nvSpPr>
        <p:spPr>
          <a:xfrm xmlns:a="http://schemas.openxmlformats.org/drawingml/2006/main">
            <a:off x="6096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Titash Sinha  /  Independent, AI-assisted work sample  /  6 October 2026</a:t>
            </a:r>
          </a:p>
        </p:txBody>
      </p:sp>
      <p:sp>
        <p:nvSpPr>
          <p:cNvPr id="5" name="">
            <a:extLst xmlns:a="http://schemas.openxmlformats.org/drawingml/2006/main">
              <a:ext uri="{FF2B5EF4-FFF2-40B4-BE49-F238E27FC236}">
                <a16:creationId xmlns:a16="http://schemas.microsoft.com/office/drawing/2014/main" id="{810871C5-A6FE-4067-A854-F9FD7EC18289}"/>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E42CDE5B-4264-4D65-B634-52CFC504968F}"/>
              </a:ext>
            </a:extLst>
          </p:cNvPr>
          <p:cNvSpPr>
            <a:spLocks xmlns:a="http://schemas.openxmlformats.org/drawingml/2006/main" noGrp="1"/>
          </p:cNvSpPr>
          <p:nvPr/>
        </p:nvSpPr>
        <p:spPr>
          <a:xfrm xmlns:a="http://schemas.openxmlformats.org/drawingml/2006/main">
            <a:off x="609600" y="217170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AD562F"/>
                </a:solidFill>
                <a:latin typeface="Arial"/>
                <a:ea typeface="Arial"/>
                <a:cs typeface="Arial"/>
              </a:defRPr>
            </a:pPr>
            <a:r>
              <a:rPr sz="5700" b="1">
                <a:solidFill>
                  <a:srgbClr val="AD562F"/>
                </a:solidFill>
                <a:latin typeface="Arial"/>
                <a:ea typeface="Arial"/>
                <a:cs typeface="Arial"/>
              </a:rPr>
              <a:t>20</a:t>
            </a:r>
          </a:p>
        </p:txBody>
      </p:sp>
      <p:sp>
        <p:nvSpPr>
          <p:cNvPr id="7" name="">
            <a:extLst xmlns:a="http://schemas.openxmlformats.org/drawingml/2006/main">
              <a:ext uri="{FF2B5EF4-FFF2-40B4-BE49-F238E27FC236}">
                <a16:creationId xmlns:a16="http://schemas.microsoft.com/office/drawing/2014/main" id="{8455AB04-3FFE-4575-A869-BCBB1384F2CB}"/>
              </a:ext>
            </a:extLst>
          </p:cNvPr>
          <p:cNvSpPr>
            <a:spLocks xmlns:a="http://schemas.openxmlformats.org/drawingml/2006/main" noGrp="1"/>
          </p:cNvSpPr>
          <p:nvPr/>
        </p:nvSpPr>
        <p:spPr>
          <a:xfrm xmlns:a="http://schemas.openxmlformats.org/drawingml/2006/main">
            <a:off x="609600" y="32480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D2A"/>
                </a:solidFill>
                <a:latin typeface="Arial"/>
                <a:ea typeface="Arial"/>
                <a:cs typeface="Arial"/>
              </a:defRPr>
            </a:pPr>
            <a:r>
              <a:rPr sz="2100" b="1">
                <a:solidFill>
                  <a:srgbClr val="202D2A"/>
                </a:solidFill>
                <a:latin typeface="Arial"/>
                <a:ea typeface="Arial"/>
                <a:cs typeface="Arial"/>
              </a:rPr>
              <a:t>Google observations</a:t>
            </a:r>
          </a:p>
        </p:txBody>
      </p:sp>
      <p:sp>
        <p:nvSpPr>
          <p:cNvPr id="8" name="">
            <a:extLst xmlns:a="http://schemas.openxmlformats.org/drawingml/2006/main">
              <a:ext uri="{FF2B5EF4-FFF2-40B4-BE49-F238E27FC236}">
                <a16:creationId xmlns:a16="http://schemas.microsoft.com/office/drawing/2014/main" id="{92765066-A42B-40DE-B064-1EA8DD956857}"/>
              </a:ext>
            </a:extLst>
          </p:cNvPr>
          <p:cNvSpPr>
            <a:spLocks xmlns:a="http://schemas.openxmlformats.org/drawingml/2006/main" noGrp="1"/>
          </p:cNvSpPr>
          <p:nvPr/>
        </p:nvSpPr>
        <p:spPr>
          <a:xfrm xmlns:a="http://schemas.openxmlformats.org/drawingml/2006/main">
            <a:off x="609600" y="3762375"/>
            <a:ext cx="333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35C"/>
                </a:solidFill>
                <a:latin typeface="Arial"/>
                <a:ea typeface="Arial"/>
                <a:cs typeface="Arial"/>
              </a:defRPr>
            </a:pPr>
            <a:r>
              <a:rPr sz="1725" b="0">
                <a:solidFill>
                  <a:srgbClr val="56635C"/>
                </a:solidFill>
                <a:latin typeface="Arial"/>
                <a:ea typeface="Arial"/>
                <a:cs typeface="Arial"/>
              </a:rPr>
              <a:t>Original field-note cohort</a:t>
            </a:r>
          </a:p>
        </p:txBody>
      </p:sp>
      <p:sp>
        <p:nvSpPr>
          <p:cNvPr id="9" name="">
            <a:extLst xmlns:a="http://schemas.openxmlformats.org/drawingml/2006/main">
              <a:ext uri="{FF2B5EF4-FFF2-40B4-BE49-F238E27FC236}">
                <a16:creationId xmlns:a16="http://schemas.microsoft.com/office/drawing/2014/main" id="{1AE73896-4842-47CB-851D-D14E3093A042}"/>
              </a:ext>
            </a:extLst>
          </p:cNvPr>
          <p:cNvSpPr>
            <a:spLocks xmlns:a="http://schemas.openxmlformats.org/drawingml/2006/main" noGrp="1"/>
          </p:cNvSpPr>
          <p:nvPr/>
        </p:nvSpPr>
        <p:spPr>
          <a:xfrm xmlns:a="http://schemas.openxmlformats.org/drawingml/2006/main">
            <a:off x="4267200" y="217170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AD562F"/>
                </a:solidFill>
                <a:latin typeface="Arial"/>
                <a:ea typeface="Arial"/>
                <a:cs typeface="Arial"/>
              </a:defRPr>
            </a:pPr>
            <a:r>
              <a:rPr sz="5700" b="1">
                <a:solidFill>
                  <a:srgbClr val="AD562F"/>
                </a:solidFill>
                <a:latin typeface="Arial"/>
                <a:ea typeface="Arial"/>
                <a:cs typeface="Arial"/>
              </a:rPr>
              <a:t>12</a:t>
            </a:r>
          </a:p>
        </p:txBody>
      </p:sp>
      <p:sp>
        <p:nvSpPr>
          <p:cNvPr id="10" name="">
            <a:extLst xmlns:a="http://schemas.openxmlformats.org/drawingml/2006/main">
              <a:ext uri="{FF2B5EF4-FFF2-40B4-BE49-F238E27FC236}">
                <a16:creationId xmlns:a16="http://schemas.microsoft.com/office/drawing/2014/main" id="{611C1189-61FF-4F3D-9AAF-FC7204145FF1}"/>
              </a:ext>
            </a:extLst>
          </p:cNvPr>
          <p:cNvSpPr>
            <a:spLocks xmlns:a="http://schemas.openxmlformats.org/drawingml/2006/main" noGrp="1"/>
          </p:cNvSpPr>
          <p:nvPr/>
        </p:nvSpPr>
        <p:spPr>
          <a:xfrm xmlns:a="http://schemas.openxmlformats.org/drawingml/2006/main">
            <a:off x="4267200" y="32480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D2A"/>
                </a:solidFill>
                <a:latin typeface="Arial"/>
                <a:ea typeface="Arial"/>
                <a:cs typeface="Arial"/>
              </a:defRPr>
            </a:pPr>
            <a:r>
              <a:rPr sz="2100" b="1">
                <a:solidFill>
                  <a:srgbClr val="202D2A"/>
                </a:solidFill>
                <a:latin typeface="Arial"/>
                <a:ea typeface="Arial"/>
                <a:cs typeface="Arial"/>
              </a:rPr>
              <a:t>ChatGPT observations</a:t>
            </a:r>
          </a:p>
        </p:txBody>
      </p:sp>
      <p:sp>
        <p:nvSpPr>
          <p:cNvPr id="11" name="">
            <a:extLst xmlns:a="http://schemas.openxmlformats.org/drawingml/2006/main">
              <a:ext uri="{FF2B5EF4-FFF2-40B4-BE49-F238E27FC236}">
                <a16:creationId xmlns:a16="http://schemas.microsoft.com/office/drawing/2014/main" id="{FA401E64-63AB-4098-B277-8407539AECBF}"/>
              </a:ext>
            </a:extLst>
          </p:cNvPr>
          <p:cNvSpPr>
            <a:spLocks xmlns:a="http://schemas.openxmlformats.org/drawingml/2006/main" noGrp="1"/>
          </p:cNvSpPr>
          <p:nvPr/>
        </p:nvSpPr>
        <p:spPr>
          <a:xfrm xmlns:a="http://schemas.openxmlformats.org/drawingml/2006/main">
            <a:off x="4267200" y="3762375"/>
            <a:ext cx="333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35C"/>
                </a:solidFill>
                <a:latin typeface="Arial"/>
                <a:ea typeface="Arial"/>
                <a:cs typeface="Arial"/>
              </a:defRPr>
            </a:pPr>
            <a:r>
              <a:rPr sz="1725" b="0">
                <a:solidFill>
                  <a:srgbClr val="56635C"/>
                </a:solidFill>
                <a:latin typeface="Arial"/>
                <a:ea typeface="Arial"/>
                <a:cs typeface="Arial"/>
              </a:rPr>
              <a:t>Completed; mixed settings</a:t>
            </a:r>
          </a:p>
        </p:txBody>
      </p:sp>
      <p:sp>
        <p:nvSpPr>
          <p:cNvPr id="12" name="">
            <a:extLst xmlns:a="http://schemas.openxmlformats.org/drawingml/2006/main">
              <a:ext uri="{FF2B5EF4-FFF2-40B4-BE49-F238E27FC236}">
                <a16:creationId xmlns:a16="http://schemas.microsoft.com/office/drawing/2014/main" id="{0F2BC6BA-9FE7-4EC7-96F2-65032DDBB975}"/>
              </a:ext>
            </a:extLst>
          </p:cNvPr>
          <p:cNvSpPr>
            <a:spLocks xmlns:a="http://schemas.openxmlformats.org/drawingml/2006/main" noGrp="1"/>
          </p:cNvSpPr>
          <p:nvPr/>
        </p:nvSpPr>
        <p:spPr>
          <a:xfrm xmlns:a="http://schemas.openxmlformats.org/drawingml/2006/main">
            <a:off x="7924800" y="217170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AD562F"/>
                </a:solidFill>
                <a:latin typeface="Arial"/>
                <a:ea typeface="Arial"/>
                <a:cs typeface="Arial"/>
              </a:defRPr>
            </a:pPr>
            <a:r>
              <a:rPr sz="5700" b="1">
                <a:solidFill>
                  <a:srgbClr val="AD562F"/>
                </a:solidFill>
                <a:latin typeface="Arial"/>
                <a:ea typeface="Arial"/>
                <a:cs typeface="Arial"/>
              </a:rPr>
              <a:t>72</a:t>
            </a:r>
          </a:p>
        </p:txBody>
      </p:sp>
      <p:sp>
        <p:nvSpPr>
          <p:cNvPr id="13" name="">
            <a:extLst xmlns:a="http://schemas.openxmlformats.org/drawingml/2006/main">
              <a:ext uri="{FF2B5EF4-FFF2-40B4-BE49-F238E27FC236}">
                <a16:creationId xmlns:a16="http://schemas.microsoft.com/office/drawing/2014/main" id="{AD94FC0E-4B09-4791-808D-372D1705537C}"/>
              </a:ext>
            </a:extLst>
          </p:cNvPr>
          <p:cNvSpPr>
            <a:spLocks xmlns:a="http://schemas.openxmlformats.org/drawingml/2006/main" noGrp="1"/>
          </p:cNvSpPr>
          <p:nvPr/>
        </p:nvSpPr>
        <p:spPr>
          <a:xfrm xmlns:a="http://schemas.openxmlformats.org/drawingml/2006/main">
            <a:off x="7924800" y="32480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D2A"/>
                </a:solidFill>
                <a:latin typeface="Arial"/>
                <a:ea typeface="Arial"/>
                <a:cs typeface="Arial"/>
              </a:defRPr>
            </a:pPr>
            <a:r>
              <a:rPr sz="2100" b="1">
                <a:solidFill>
                  <a:srgbClr val="202D2A"/>
                </a:solidFill>
                <a:latin typeface="Arial"/>
                <a:ea typeface="Arial"/>
                <a:cs typeface="Arial"/>
              </a:rPr>
              <a:t>Source records</a:t>
            </a:r>
          </a:p>
        </p:txBody>
      </p:sp>
      <p:sp>
        <p:nvSpPr>
          <p:cNvPr id="14" name="">
            <a:extLst xmlns:a="http://schemas.openxmlformats.org/drawingml/2006/main">
              <a:ext uri="{FF2B5EF4-FFF2-40B4-BE49-F238E27FC236}">
                <a16:creationId xmlns:a16="http://schemas.microsoft.com/office/drawing/2014/main" id="{19600893-2DD3-4A0E-BBDC-77559BF6139F}"/>
              </a:ext>
            </a:extLst>
          </p:cNvPr>
          <p:cNvSpPr>
            <a:spLocks xmlns:a="http://schemas.openxmlformats.org/drawingml/2006/main" noGrp="1"/>
          </p:cNvSpPr>
          <p:nvPr/>
        </p:nvSpPr>
        <p:spPr>
          <a:xfrm xmlns:a="http://schemas.openxmlformats.org/drawingml/2006/main">
            <a:off x="7924800" y="3762375"/>
            <a:ext cx="333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6635C"/>
                </a:solidFill>
                <a:latin typeface="Arial"/>
                <a:ea typeface="Arial"/>
                <a:cs typeface="Arial"/>
              </a:defRPr>
            </a:pPr>
            <a:r>
              <a:rPr sz="1725" b="0">
                <a:solidFill>
                  <a:srgbClr val="56635C"/>
                </a:solidFill>
                <a:latin typeface="Arial"/>
                <a:ea typeface="Arial"/>
                <a:cs typeface="Arial"/>
              </a:rPr>
              <a:t>Inventory, including rereads</a:t>
            </a:r>
          </a:p>
        </p:txBody>
      </p:sp>
      <p:sp>
        <p:nvSpPr>
          <p:cNvPr id="15" name="">
            <a:extLst xmlns:a="http://schemas.openxmlformats.org/drawingml/2006/main">
              <a:ext uri="{FF2B5EF4-FFF2-40B4-BE49-F238E27FC236}">
                <a16:creationId xmlns:a16="http://schemas.microsoft.com/office/drawing/2014/main" id="{E3E9B32F-82F3-4AEA-A0E5-5F2F916A8B0F}"/>
              </a:ext>
            </a:extLst>
          </p:cNvPr>
          <p:cNvSpPr>
            <a:spLocks xmlns:a="http://schemas.openxmlformats.org/drawingml/2006/main" noGrp="1"/>
          </p:cNvSpPr>
          <p:nvPr/>
        </p:nvSpPr>
        <p:spPr>
          <a:xfrm xmlns:a="http://schemas.openxmlformats.org/drawingml/2006/main">
            <a:off x="609600" y="4705350"/>
            <a:ext cx="10972800" cy="828675"/>
          </a:xfrm>
          <a:prstGeom xmlns:a="http://schemas.openxmlformats.org/drawingml/2006/main" prst="rect">
            <a:avLst/>
          </a:prstGeom>
          <a:solidFill xmlns:a="http://schemas.openxmlformats.org/drawingml/2006/main">
            <a:srgbClr val="E4E8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8817495-EDF4-4044-A9FE-BCDE5CFD117E}"/>
              </a:ext>
            </a:extLst>
          </p:cNvPr>
          <p:cNvSpPr>
            <a:spLocks xmlns:a="http://schemas.openxmlformats.org/drawingml/2006/main" noGrp="1"/>
          </p:cNvSpPr>
          <p:nvPr/>
        </p:nvSpPr>
        <p:spPr>
          <a:xfrm xmlns:a="http://schemas.openxmlformats.org/drawingml/2006/main">
            <a:off x="838200" y="48387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2A"/>
                </a:solidFill>
                <a:latin typeface="Arial"/>
                <a:ea typeface="Arial"/>
                <a:cs typeface="Arial"/>
              </a:defRPr>
            </a:pPr>
            <a:r>
              <a:rPr sz="1875" b="1">
                <a:solidFill>
                  <a:srgbClr val="202D2A"/>
                </a:solidFill>
                <a:latin typeface="Arial"/>
                <a:ea typeface="Arial"/>
                <a:cs typeface="Arial"/>
              </a:rPr>
              <a:t>Separate India / English check: 5 queries, 92 captured headings</a:t>
            </a:r>
          </a:p>
        </p:txBody>
      </p:sp>
      <p:sp>
        <p:nvSpPr>
          <p:cNvPr id="17" name="">
            <a:extLst xmlns:a="http://schemas.openxmlformats.org/drawingml/2006/main">
              <a:ext uri="{FF2B5EF4-FFF2-40B4-BE49-F238E27FC236}">
                <a16:creationId xmlns:a16="http://schemas.microsoft.com/office/drawing/2014/main" id="{86A744D4-1EE9-467D-A96D-B226BA886B7A}"/>
              </a:ext>
            </a:extLst>
          </p:cNvPr>
          <p:cNvSpPr>
            <a:spLocks xmlns:a="http://schemas.openxmlformats.org/drawingml/2006/main" noGrp="1"/>
          </p:cNvSpPr>
          <p:nvPr/>
        </p:nvSpPr>
        <p:spPr>
          <a:xfrm xmlns:a="http://schemas.openxmlformats.org/drawingml/2006/main">
            <a:off x="838200" y="52197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D2A"/>
                </a:solidFill>
                <a:latin typeface="Arial"/>
                <a:ea typeface="Arial"/>
                <a:cs typeface="Arial"/>
              </a:defRPr>
            </a:pPr>
            <a:r>
              <a:rPr sz="1800" b="0">
                <a:solidFill>
                  <a:srgbClr val="202D2A"/>
                </a:solidFill>
                <a:latin typeface="Arial"/>
                <a:ea typeface="Arial"/>
                <a:cs typeface="Arial"/>
              </a:rPr>
              <a:t>0 owned Cardboard headings; 1 third-party YC result</a:t>
            </a:r>
          </a:p>
        </p:txBody>
      </p:sp>
      <p:sp>
        <p:nvSpPr>
          <p:cNvPr id="18" name="">
            <a:extLst xmlns:a="http://schemas.openxmlformats.org/drawingml/2006/main">
              <a:ext uri="{FF2B5EF4-FFF2-40B4-BE49-F238E27FC236}">
                <a16:creationId xmlns:a16="http://schemas.microsoft.com/office/drawing/2014/main" id="{522199C8-D98E-4720-B4DF-A2F02C598BF0}"/>
              </a:ext>
            </a:extLst>
          </p:cNvPr>
          <p:cNvSpPr>
            <a:spLocks xmlns:a="http://schemas.openxmlformats.org/drawingml/2006/main" noGrp="1"/>
          </p:cNvSpPr>
          <p:nvPr/>
        </p:nvSpPr>
        <p:spPr>
          <a:xfrm xmlns:a="http://schemas.openxmlformats.org/drawingml/2006/main">
            <a:off x="609600" y="5743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35C"/>
                </a:solidFill>
                <a:latin typeface="Arial"/>
                <a:ea typeface="Arial"/>
                <a:cs typeface="Arial"/>
              </a:defRPr>
            </a:pPr>
            <a:r>
              <a:rPr sz="1425" b="0">
                <a:solidFill>
                  <a:srgbClr val="56635C"/>
                </a:solidFill>
                <a:latin typeface="Arial"/>
                <a:ea typeface="Arial"/>
                <a:cs typeface="Arial"/>
              </a:rPr>
              <a:t>Incomplete original Google retention; mixed AI cohorts. No universal invisibility or ranking trend.</a:t>
            </a:r>
          </a:p>
        </p:txBody>
      </p:sp>
    </p:spTree>
    <p:extLst>
      <p:ext uri="{BB962C8B-B14F-4D97-AF65-F5344CB8AC3E}">
        <p14:creationId xmlns:p14="http://schemas.microsoft.com/office/powerpoint/2010/main" val="567383710"/>
      </p:ext>
    </p:extLst>
  </p:cSld>
</p:sld>
</file>

<file path=ppt/slides/slide4.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8D2C60D-4869-43C1-833E-2020FE571E1E}"/>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D562F"/>
                </a:solidFill>
                <a:latin typeface="Arial"/>
                <a:ea typeface="Arial"/>
                <a:cs typeface="Arial"/>
              </a:defRPr>
            </a:pPr>
            <a:r>
              <a:rPr sz="1350" b="1">
                <a:solidFill>
                  <a:srgbClr val="AD562F"/>
                </a:solidFill>
                <a:latin typeface="Arial"/>
                <a:ea typeface="Arial"/>
                <a:cs typeface="Arial"/>
              </a:rPr>
              <a:t>EXPLORATORY MAKER LEARNING</a:t>
            </a:r>
          </a:p>
        </p:txBody>
      </p:sp>
      <p:sp>
        <p:nvSpPr>
          <p:cNvPr id="2" name="">
            <a:extLst xmlns:a="http://schemas.openxmlformats.org/drawingml/2006/main">
              <a:ext uri="{FF2B5EF4-FFF2-40B4-BE49-F238E27FC236}">
                <a16:creationId xmlns:a16="http://schemas.microsoft.com/office/drawing/2014/main" id="{23C8DA44-8CA3-4369-9C2B-47BBB37EB45C}"/>
              </a:ext>
            </a:extLst>
          </p:cNvPr>
          <p:cNvSpPr>
            <a:spLocks xmlns:a="http://schemas.openxmlformats.org/drawingml/2006/main" noGrp="1"/>
          </p:cNvSpPr>
          <p:nvPr/>
        </p:nvSpPr>
        <p:spPr>
          <a:xfrm xmlns:a="http://schemas.openxmlformats.org/drawingml/2006/main">
            <a:off x="609600" y="838200"/>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Different production stages</a:t>
            </a:r>
          </a:p>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need different kinds of help</a:t>
            </a:r>
          </a:p>
        </p:txBody>
      </p:sp>
      <p:sp>
        <p:nvSpPr>
          <p:cNvPr id="3" name="">
            <a:extLst xmlns:a="http://schemas.openxmlformats.org/drawingml/2006/main">
              <a:ext uri="{FF2B5EF4-FFF2-40B4-BE49-F238E27FC236}">
                <a16:creationId xmlns:a16="http://schemas.microsoft.com/office/drawing/2014/main" id="{E13BD629-D8EE-4613-A1C5-900B38E2AC8E}"/>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7C2CAB-A083-4796-A185-7BD6ADEE5216}"/>
              </a:ext>
            </a:extLst>
          </p:cNvPr>
          <p:cNvSpPr>
            <a:spLocks xmlns:a="http://schemas.openxmlformats.org/drawingml/2006/main" noGrp="1"/>
          </p:cNvSpPr>
          <p:nvPr/>
        </p:nvSpPr>
        <p:spPr>
          <a:xfrm xmlns:a="http://schemas.openxmlformats.org/drawingml/2006/main">
            <a:off x="6096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Titash Sinha  /  Independent, AI-assisted work sample  /  6 October 2026</a:t>
            </a:r>
          </a:p>
        </p:txBody>
      </p:sp>
      <p:sp>
        <p:nvSpPr>
          <p:cNvPr id="5" name="">
            <a:extLst xmlns:a="http://schemas.openxmlformats.org/drawingml/2006/main">
              <a:ext uri="{FF2B5EF4-FFF2-40B4-BE49-F238E27FC236}">
                <a16:creationId xmlns:a16="http://schemas.microsoft.com/office/drawing/2014/main" id="{CB0C6D1A-DA5F-46D7-9789-1FAA4D441EDD}"/>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64E2DF23-50C4-486C-964D-27A8FAA41A5D}"/>
              </a:ext>
            </a:extLst>
          </p:cNvPr>
          <p:cNvSpPr>
            <a:spLocks xmlns:a="http://schemas.openxmlformats.org/drawingml/2006/main" noGrp="1"/>
          </p:cNvSpPr>
          <p:nvPr/>
        </p:nvSpPr>
        <p:spPr>
          <a:xfrm xmlns:a="http://schemas.openxmlformats.org/drawingml/2006/main">
            <a:off x="609600" y="2171700"/>
            <a:ext cx="328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D2A"/>
                </a:solidFill>
                <a:latin typeface="Arial"/>
                <a:ea typeface="Arial"/>
                <a:cs typeface="Arial"/>
              </a:defRPr>
            </a:pPr>
            <a:r>
              <a:rPr sz="2100" b="1">
                <a:solidFill>
                  <a:srgbClr val="202D2A"/>
                </a:solidFill>
                <a:latin typeface="Arial"/>
                <a:ea typeface="Arial"/>
                <a:cs typeface="Arial"/>
              </a:rPr>
              <a:t>Planning + graphics</a:t>
            </a:r>
          </a:p>
        </p:txBody>
      </p:sp>
      <p:sp>
        <p:nvSpPr>
          <p:cNvPr id="7" name="">
            <a:extLst xmlns:a="http://schemas.openxmlformats.org/drawingml/2006/main">
              <a:ext uri="{FF2B5EF4-FFF2-40B4-BE49-F238E27FC236}">
                <a16:creationId xmlns:a16="http://schemas.microsoft.com/office/drawing/2014/main" id="{16EAA7DA-4057-4B44-A7A5-4E71C75ACCEE}"/>
              </a:ext>
            </a:extLst>
          </p:cNvPr>
          <p:cNvSpPr>
            <a:spLocks xmlns:a="http://schemas.openxmlformats.org/drawingml/2006/main" noGrp="1"/>
          </p:cNvSpPr>
          <p:nvPr/>
        </p:nvSpPr>
        <p:spPr>
          <a:xfrm xmlns:a="http://schemas.openxmlformats.org/drawingml/2006/main">
            <a:off x="4191000" y="21717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D2A"/>
                </a:solidFill>
                <a:latin typeface="Arial"/>
                <a:ea typeface="Arial"/>
                <a:cs typeface="Arial"/>
              </a:defRPr>
            </a:pPr>
            <a:r>
              <a:rPr sz="2025" b="0">
                <a:solidFill>
                  <a:srgbClr val="202D2A"/>
                </a:solidFill>
                <a:latin typeface="Arial"/>
                <a:ea typeface="Arial"/>
                <a:cs typeface="Arial"/>
              </a:rPr>
              <a:t>Ideas, storyboards and interface preparation</a:t>
            </a:r>
          </a:p>
        </p:txBody>
      </p:sp>
      <p:sp>
        <p:nvSpPr>
          <p:cNvPr id="8" name="">
            <a:extLst xmlns:a="http://schemas.openxmlformats.org/drawingml/2006/main">
              <a:ext uri="{FF2B5EF4-FFF2-40B4-BE49-F238E27FC236}">
                <a16:creationId xmlns:a16="http://schemas.microsoft.com/office/drawing/2014/main" id="{481AF702-2AD2-485A-9B90-087E658A4DE8}"/>
              </a:ext>
            </a:extLst>
          </p:cNvPr>
          <p:cNvSpPr>
            <a:spLocks xmlns:a="http://schemas.openxmlformats.org/drawingml/2006/main" noGrp="1"/>
          </p:cNvSpPr>
          <p:nvPr/>
        </p:nvSpPr>
        <p:spPr>
          <a:xfrm xmlns:a="http://schemas.openxmlformats.org/drawingml/2006/main">
            <a:off x="609600" y="281940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CFDA22B-C525-422E-8283-19452CE43159}"/>
              </a:ext>
            </a:extLst>
          </p:cNvPr>
          <p:cNvSpPr>
            <a:spLocks xmlns:a="http://schemas.openxmlformats.org/drawingml/2006/main" noGrp="1"/>
          </p:cNvSpPr>
          <p:nvPr/>
        </p:nvSpPr>
        <p:spPr>
          <a:xfrm xmlns:a="http://schemas.openxmlformats.org/drawingml/2006/main">
            <a:off x="609600" y="2990850"/>
            <a:ext cx="328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D2A"/>
                </a:solidFill>
                <a:latin typeface="Arial"/>
                <a:ea typeface="Arial"/>
                <a:cs typeface="Arial"/>
              </a:defRPr>
            </a:pPr>
            <a:r>
              <a:rPr sz="2100" b="1">
                <a:solidFill>
                  <a:srgbClr val="202D2A"/>
                </a:solidFill>
                <a:latin typeface="Arial"/>
                <a:ea typeface="Arial"/>
                <a:cs typeface="Arial"/>
              </a:rPr>
              <a:t>Animation + polish</a:t>
            </a:r>
          </a:p>
        </p:txBody>
      </p:sp>
      <p:sp>
        <p:nvSpPr>
          <p:cNvPr id="10" name="">
            <a:extLst xmlns:a="http://schemas.openxmlformats.org/drawingml/2006/main">
              <a:ext uri="{FF2B5EF4-FFF2-40B4-BE49-F238E27FC236}">
                <a16:creationId xmlns:a16="http://schemas.microsoft.com/office/drawing/2014/main" id="{D6773807-0DD5-4E40-A845-B29BECA2D598}"/>
              </a:ext>
            </a:extLst>
          </p:cNvPr>
          <p:cNvSpPr>
            <a:spLocks xmlns:a="http://schemas.openxmlformats.org/drawingml/2006/main" noGrp="1"/>
          </p:cNvSpPr>
          <p:nvPr/>
        </p:nvSpPr>
        <p:spPr>
          <a:xfrm xmlns:a="http://schemas.openxmlformats.org/drawingml/2006/main">
            <a:off x="4191000" y="29908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D2A"/>
                </a:solidFill>
                <a:latin typeface="Arial"/>
                <a:ea typeface="Arial"/>
                <a:cs typeface="Arial"/>
              </a:defRPr>
            </a:pPr>
            <a:r>
              <a:rPr sz="2025" b="0">
                <a:solidFill>
                  <a:srgbClr val="202D2A"/>
                </a:solidFill>
                <a:latin typeface="Arial"/>
                <a:ea typeface="Arial"/>
                <a:cs typeface="Arial"/>
              </a:rPr>
              <a:t>Timing, easing, sound and precise creative control</a:t>
            </a:r>
          </a:p>
        </p:txBody>
      </p:sp>
      <p:sp>
        <p:nvSpPr>
          <p:cNvPr id="11" name="">
            <a:extLst xmlns:a="http://schemas.openxmlformats.org/drawingml/2006/main">
              <a:ext uri="{FF2B5EF4-FFF2-40B4-BE49-F238E27FC236}">
                <a16:creationId xmlns:a16="http://schemas.microsoft.com/office/drawing/2014/main" id="{D3C18D4E-61FF-4940-AC7F-04FFCAD715B3}"/>
              </a:ext>
            </a:extLst>
          </p:cNvPr>
          <p:cNvSpPr>
            <a:spLocks xmlns:a="http://schemas.openxmlformats.org/drawingml/2006/main" noGrp="1"/>
          </p:cNvSpPr>
          <p:nvPr/>
        </p:nvSpPr>
        <p:spPr>
          <a:xfrm xmlns:a="http://schemas.openxmlformats.org/drawingml/2006/main">
            <a:off x="609600" y="363855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C24649-25C8-48CE-A3CC-403B76796CEF}"/>
              </a:ext>
            </a:extLst>
          </p:cNvPr>
          <p:cNvSpPr>
            <a:spLocks xmlns:a="http://schemas.openxmlformats.org/drawingml/2006/main" noGrp="1"/>
          </p:cNvSpPr>
          <p:nvPr/>
        </p:nvSpPr>
        <p:spPr>
          <a:xfrm xmlns:a="http://schemas.openxmlformats.org/drawingml/2006/main">
            <a:off x="609600" y="3810000"/>
            <a:ext cx="328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D2A"/>
                </a:solidFill>
                <a:latin typeface="Arial"/>
                <a:ea typeface="Arial"/>
                <a:cs typeface="Arial"/>
              </a:defRPr>
            </a:pPr>
            <a:r>
              <a:rPr sz="2100" b="1">
                <a:solidFill>
                  <a:srgbClr val="202D2A"/>
                </a:solidFill>
                <a:latin typeface="Arial"/>
                <a:ea typeface="Arial"/>
                <a:cs typeface="Arial"/>
              </a:rPr>
              <a:t>Corrections + handoff</a:t>
            </a:r>
          </a:p>
        </p:txBody>
      </p:sp>
      <p:sp>
        <p:nvSpPr>
          <p:cNvPr id="13" name="">
            <a:extLst xmlns:a="http://schemas.openxmlformats.org/drawingml/2006/main">
              <a:ext uri="{FF2B5EF4-FFF2-40B4-BE49-F238E27FC236}">
                <a16:creationId xmlns:a16="http://schemas.microsoft.com/office/drawing/2014/main" id="{F3A5E297-03B9-4058-B080-BEF822C8BF3C}"/>
              </a:ext>
            </a:extLst>
          </p:cNvPr>
          <p:cNvSpPr>
            <a:spLocks xmlns:a="http://schemas.openxmlformats.org/drawingml/2006/main" noGrp="1"/>
          </p:cNvSpPr>
          <p:nvPr/>
        </p:nvSpPr>
        <p:spPr>
          <a:xfrm xmlns:a="http://schemas.openxmlformats.org/drawingml/2006/main">
            <a:off x="4191000" y="38100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D2A"/>
                </a:solidFill>
                <a:latin typeface="Arial"/>
                <a:ea typeface="Arial"/>
                <a:cs typeface="Arial"/>
              </a:defRPr>
            </a:pPr>
            <a:r>
              <a:rPr sz="2025" b="0">
                <a:solidFill>
                  <a:srgbClr val="202D2A"/>
                </a:solidFill>
                <a:latin typeface="Arial"/>
                <a:ea typeface="Arial"/>
                <a:cs typeface="Arial"/>
              </a:rPr>
              <a:t>Editable structure, assets and access matter</a:t>
            </a:r>
          </a:p>
        </p:txBody>
      </p:sp>
      <p:sp>
        <p:nvSpPr>
          <p:cNvPr id="14" name="">
            <a:extLst xmlns:a="http://schemas.openxmlformats.org/drawingml/2006/main">
              <a:ext uri="{FF2B5EF4-FFF2-40B4-BE49-F238E27FC236}">
                <a16:creationId xmlns:a16="http://schemas.microsoft.com/office/drawing/2014/main" id="{538BFE61-B745-4D4A-AAF7-DCB32F42571E}"/>
              </a:ext>
            </a:extLst>
          </p:cNvPr>
          <p:cNvSpPr>
            <a:spLocks xmlns:a="http://schemas.openxmlformats.org/drawingml/2006/main" noGrp="1"/>
          </p:cNvSpPr>
          <p:nvPr/>
        </p:nvSpPr>
        <p:spPr>
          <a:xfrm xmlns:a="http://schemas.openxmlformats.org/drawingml/2006/main">
            <a:off x="609600" y="445770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03B4486-6A0B-4901-8D5F-9374155A233E}"/>
              </a:ext>
            </a:extLst>
          </p:cNvPr>
          <p:cNvSpPr>
            <a:spLocks xmlns:a="http://schemas.openxmlformats.org/drawingml/2006/main" noGrp="1"/>
          </p:cNvSpPr>
          <p:nvPr/>
        </p:nvSpPr>
        <p:spPr>
          <a:xfrm xmlns:a="http://schemas.openxmlformats.org/drawingml/2006/main">
            <a:off x="609600" y="4629150"/>
            <a:ext cx="328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D2A"/>
                </a:solidFill>
                <a:latin typeface="Arial"/>
                <a:ea typeface="Arial"/>
                <a:cs typeface="Arial"/>
              </a:defRPr>
            </a:pPr>
            <a:r>
              <a:rPr sz="2100" b="1">
                <a:solidFill>
                  <a:srgbClr val="202D2A"/>
                </a:solidFill>
                <a:latin typeface="Arial"/>
                <a:ea typeface="Arial"/>
                <a:cs typeface="Arial"/>
              </a:rPr>
              <a:t>Incumbent fit</a:t>
            </a:r>
          </a:p>
        </p:txBody>
      </p:sp>
      <p:sp>
        <p:nvSpPr>
          <p:cNvPr id="16" name="">
            <a:extLst xmlns:a="http://schemas.openxmlformats.org/drawingml/2006/main">
              <a:ext uri="{FF2B5EF4-FFF2-40B4-BE49-F238E27FC236}">
                <a16:creationId xmlns:a16="http://schemas.microsoft.com/office/drawing/2014/main" id="{53D47B93-D6C2-4388-B263-DD344810A20C}"/>
              </a:ext>
            </a:extLst>
          </p:cNvPr>
          <p:cNvSpPr>
            <a:spLocks xmlns:a="http://schemas.openxmlformats.org/drawingml/2006/main" noGrp="1"/>
          </p:cNvSpPr>
          <p:nvPr/>
        </p:nvSpPr>
        <p:spPr>
          <a:xfrm xmlns:a="http://schemas.openxmlformats.org/drawingml/2006/main">
            <a:off x="4191000" y="462915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D2A"/>
                </a:solidFill>
                <a:latin typeface="Arial"/>
                <a:ea typeface="Arial"/>
                <a:cs typeface="Arial"/>
              </a:defRPr>
            </a:pPr>
            <a:r>
              <a:rPr sz="2025" b="0">
                <a:solidFill>
                  <a:srgbClr val="202D2A"/>
                </a:solidFill>
                <a:latin typeface="Arial"/>
                <a:ea typeface="Arial"/>
                <a:cs typeface="Arial"/>
              </a:rPr>
              <a:t>AI assistance can coexist with manual finishing</a:t>
            </a:r>
          </a:p>
        </p:txBody>
      </p:sp>
      <p:sp>
        <p:nvSpPr>
          <p:cNvPr id="17" name="">
            <a:extLst xmlns:a="http://schemas.openxmlformats.org/drawingml/2006/main">
              <a:ext uri="{FF2B5EF4-FFF2-40B4-BE49-F238E27FC236}">
                <a16:creationId xmlns:a16="http://schemas.microsoft.com/office/drawing/2014/main" id="{8005ECF0-7535-4D3A-9A1A-E680EEFDCC78}"/>
              </a:ext>
            </a:extLst>
          </p:cNvPr>
          <p:cNvSpPr>
            <a:spLocks xmlns:a="http://schemas.openxmlformats.org/drawingml/2006/main" noGrp="1"/>
          </p:cNvSpPr>
          <p:nvPr/>
        </p:nvSpPr>
        <p:spPr>
          <a:xfrm xmlns:a="http://schemas.openxmlformats.org/drawingml/2006/main">
            <a:off x="609600" y="5743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35C"/>
                </a:solidFill>
                <a:latin typeface="Arial"/>
                <a:ea typeface="Arial"/>
                <a:cs typeface="Arial"/>
              </a:defRPr>
            </a:pPr>
            <a:r>
              <a:rPr sz="1425" b="0">
                <a:solidFill>
                  <a:srgbClr val="56635C"/>
                </a:solidFill>
                <a:latin typeface="Arial"/>
                <a:ea typeface="Arial"/>
                <a:cs typeface="Arial"/>
              </a:rPr>
              <a:t>Useful context, not screened SaaS-buyer validation or evidence of Cardboard performance.</a:t>
            </a:r>
          </a:p>
        </p:txBody>
      </p:sp>
    </p:spTree>
    <p:extLst>
      <p:ext uri="{BB962C8B-B14F-4D97-AF65-F5344CB8AC3E}">
        <p14:creationId xmlns:p14="http://schemas.microsoft.com/office/powerpoint/2010/main" val="334652164"/>
      </p:ext>
    </p:extLst>
  </p:cSld>
</p:sld>
</file>

<file path=ppt/slides/slide5.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AEF6385-CA4C-4F8B-81A2-039E2659C153}"/>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D562F"/>
                </a:solidFill>
                <a:latin typeface="Arial"/>
                <a:ea typeface="Arial"/>
                <a:cs typeface="Arial"/>
              </a:defRPr>
            </a:pPr>
            <a:r>
              <a:rPr sz="1350" b="1">
                <a:solidFill>
                  <a:srgbClr val="AD562F"/>
                </a:solidFill>
                <a:latin typeface="Arial"/>
                <a:ea typeface="Arial"/>
                <a:cs typeface="Arial"/>
              </a:rPr>
              <a:t>CONVERSATION FINDINGS</a:t>
            </a:r>
          </a:p>
        </p:txBody>
      </p:sp>
      <p:sp>
        <p:nvSpPr>
          <p:cNvPr id="2" name="">
            <a:extLst xmlns:a="http://schemas.openxmlformats.org/drawingml/2006/main">
              <a:ext uri="{FF2B5EF4-FFF2-40B4-BE49-F238E27FC236}">
                <a16:creationId xmlns:a16="http://schemas.microsoft.com/office/drawing/2014/main" id="{86E0AD1B-BCC4-451C-AB02-3732F535FC77}"/>
              </a:ext>
            </a:extLst>
          </p:cNvPr>
          <p:cNvSpPr>
            <a:spLocks xmlns:a="http://schemas.openxmlformats.org/drawingml/2006/main" noGrp="1"/>
          </p:cNvSpPr>
          <p:nvPr/>
        </p:nvSpPr>
        <p:spPr>
          <a:xfrm xmlns:a="http://schemas.openxmlformats.org/drawingml/2006/main">
            <a:off x="609600" y="838200"/>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EX01: what the replies helped us learn</a:t>
            </a:r>
          </a:p>
        </p:txBody>
      </p:sp>
      <p:sp>
        <p:nvSpPr>
          <p:cNvPr id="3" name="">
            <a:extLst xmlns:a="http://schemas.openxmlformats.org/drawingml/2006/main">
              <a:ext uri="{FF2B5EF4-FFF2-40B4-BE49-F238E27FC236}">
                <a16:creationId xmlns:a16="http://schemas.microsoft.com/office/drawing/2014/main" id="{B80D3A9B-F2B7-4AC6-8841-2A157970CC33}"/>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911019-2DC0-4F4A-99F7-08782027A9C2}"/>
              </a:ext>
            </a:extLst>
          </p:cNvPr>
          <p:cNvSpPr>
            <a:spLocks xmlns:a="http://schemas.openxmlformats.org/drawingml/2006/main" noGrp="1"/>
          </p:cNvSpPr>
          <p:nvPr/>
        </p:nvSpPr>
        <p:spPr>
          <a:xfrm xmlns:a="http://schemas.openxmlformats.org/drawingml/2006/main">
            <a:off x="6096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Titash Sinha  /  Independent, AI-assisted work sample  /  6 October 2026</a:t>
            </a:r>
          </a:p>
        </p:txBody>
      </p:sp>
      <p:sp>
        <p:nvSpPr>
          <p:cNvPr id="5" name="">
            <a:extLst xmlns:a="http://schemas.openxmlformats.org/drawingml/2006/main">
              <a:ext uri="{FF2B5EF4-FFF2-40B4-BE49-F238E27FC236}">
                <a16:creationId xmlns:a16="http://schemas.microsoft.com/office/drawing/2014/main" id="{1D13A1B1-2CD2-484E-9730-86DAA23C57EF}"/>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D99E7B8F-7AA8-48EE-90EF-7F7159FCFF1C}"/>
              </a:ext>
            </a:extLst>
          </p:cNvPr>
          <p:cNvSpPr>
            <a:spLocks xmlns:a="http://schemas.openxmlformats.org/drawingml/2006/main" noGrp="1"/>
          </p:cNvSpPr>
          <p:nvPr/>
        </p:nvSpPr>
        <p:spPr>
          <a:xfrm xmlns:a="http://schemas.openxmlformats.org/drawingml/2006/main">
            <a:off x="609600" y="2209800"/>
            <a:ext cx="10763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D2A"/>
                </a:solidFill>
                <a:latin typeface="Arial"/>
                <a:ea typeface="Arial"/>
                <a:cs typeface="Arial"/>
              </a:defRPr>
            </a:pPr>
            <a:r>
              <a:rPr sz="2175" b="1">
                <a:solidFill>
                  <a:srgbClr val="202D2A"/>
                </a:solidFill>
                <a:latin typeface="Arial"/>
                <a:ea typeface="Arial"/>
                <a:cs typeface="Arial"/>
              </a:rPr>
              <a:t>Workflow</a:t>
            </a:r>
          </a:p>
        </p:txBody>
      </p:sp>
      <p:sp>
        <p:nvSpPr>
          <p:cNvPr id="7" name="">
            <a:extLst xmlns:a="http://schemas.openxmlformats.org/drawingml/2006/main">
              <a:ext uri="{FF2B5EF4-FFF2-40B4-BE49-F238E27FC236}">
                <a16:creationId xmlns:a16="http://schemas.microsoft.com/office/drawing/2014/main" id="{76CC85AA-1F19-412A-B770-76FE7A05E14C}"/>
              </a:ext>
            </a:extLst>
          </p:cNvPr>
          <p:cNvSpPr>
            <a:spLocks xmlns:a="http://schemas.openxmlformats.org/drawingml/2006/main" noGrp="1"/>
          </p:cNvSpPr>
          <p:nvPr/>
        </p:nvSpPr>
        <p:spPr>
          <a:xfrm xmlns:a="http://schemas.openxmlformats.org/drawingml/2006/main">
            <a:off x="609600" y="26574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D2A"/>
                </a:solidFill>
                <a:latin typeface="Arial"/>
                <a:ea typeface="Arial"/>
                <a:cs typeface="Arial"/>
              </a:defRPr>
            </a:pPr>
            <a:r>
              <a:rPr sz="2025" b="0">
                <a:solidFill>
                  <a:srgbClr val="202D2A"/>
                </a:solidFill>
                <a:latin typeface="Arial"/>
                <a:ea typeface="Arial"/>
                <a:cs typeface="Arial"/>
              </a:rPr>
              <a:t>Planning, animation and finishing need different help.</a:t>
            </a:r>
          </a:p>
        </p:txBody>
      </p:sp>
      <p:sp>
        <p:nvSpPr>
          <p:cNvPr id="8" name="">
            <a:extLst xmlns:a="http://schemas.openxmlformats.org/drawingml/2006/main">
              <a:ext uri="{FF2B5EF4-FFF2-40B4-BE49-F238E27FC236}">
                <a16:creationId xmlns:a16="http://schemas.microsoft.com/office/drawing/2014/main" id="{3D324E12-C7B5-45A9-BFFA-BC36B69AE052}"/>
              </a:ext>
            </a:extLst>
          </p:cNvPr>
          <p:cNvSpPr>
            <a:spLocks xmlns:a="http://schemas.openxmlformats.org/drawingml/2006/main" noGrp="1"/>
          </p:cNvSpPr>
          <p:nvPr/>
        </p:nvSpPr>
        <p:spPr>
          <a:xfrm xmlns:a="http://schemas.openxmlformats.org/drawingml/2006/main">
            <a:off x="609600" y="3238500"/>
            <a:ext cx="10763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D2A"/>
                </a:solidFill>
                <a:latin typeface="Arial"/>
                <a:ea typeface="Arial"/>
                <a:cs typeface="Arial"/>
              </a:defRPr>
            </a:pPr>
            <a:r>
              <a:rPr sz="2175" b="1">
                <a:solidFill>
                  <a:srgbClr val="202D2A"/>
                </a:solidFill>
                <a:latin typeface="Arial"/>
                <a:ea typeface="Arial"/>
                <a:cs typeface="Arial"/>
              </a:rPr>
              <a:t>Switching considerations</a:t>
            </a:r>
          </a:p>
        </p:txBody>
      </p:sp>
      <p:sp>
        <p:nvSpPr>
          <p:cNvPr id="9" name="">
            <a:extLst xmlns:a="http://schemas.openxmlformats.org/drawingml/2006/main">
              <a:ext uri="{FF2B5EF4-FFF2-40B4-BE49-F238E27FC236}">
                <a16:creationId xmlns:a16="http://schemas.microsoft.com/office/drawing/2014/main" id="{681F0E7A-191B-4E07-852F-C713AD4379AB}"/>
              </a:ext>
            </a:extLst>
          </p:cNvPr>
          <p:cNvSpPr>
            <a:spLocks xmlns:a="http://schemas.openxmlformats.org/drawingml/2006/main" noGrp="1"/>
          </p:cNvSpPr>
          <p:nvPr/>
        </p:nvSpPr>
        <p:spPr>
          <a:xfrm xmlns:a="http://schemas.openxmlformats.org/drawingml/2006/main">
            <a:off x="609600" y="36861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D2A"/>
                </a:solidFill>
                <a:latin typeface="Arial"/>
                <a:ea typeface="Arial"/>
                <a:cs typeface="Arial"/>
              </a:defRPr>
            </a:pPr>
            <a:r>
              <a:rPr sz="2025" b="0">
                <a:solidFill>
                  <a:srgbClr val="202D2A"/>
                </a:solidFill>
                <a:latin typeface="Arial"/>
                <a:ea typeface="Arial"/>
                <a:cs typeface="Arial"/>
              </a:rPr>
              <a:t>Control, editability and setup matter when comparing methods.</a:t>
            </a:r>
          </a:p>
        </p:txBody>
      </p:sp>
      <p:sp>
        <p:nvSpPr>
          <p:cNvPr id="10" name="">
            <a:extLst xmlns:a="http://schemas.openxmlformats.org/drawingml/2006/main">
              <a:ext uri="{FF2B5EF4-FFF2-40B4-BE49-F238E27FC236}">
                <a16:creationId xmlns:a16="http://schemas.microsoft.com/office/drawing/2014/main" id="{2CC1391D-7456-4B53-85EA-284591484CEE}"/>
              </a:ext>
            </a:extLst>
          </p:cNvPr>
          <p:cNvSpPr>
            <a:spLocks xmlns:a="http://schemas.openxmlformats.org/drawingml/2006/main" noGrp="1"/>
          </p:cNvSpPr>
          <p:nvPr/>
        </p:nvSpPr>
        <p:spPr>
          <a:xfrm xmlns:a="http://schemas.openxmlformats.org/drawingml/2006/main">
            <a:off x="609600" y="4267200"/>
            <a:ext cx="10763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D2A"/>
                </a:solidFill>
                <a:latin typeface="Arial"/>
                <a:ea typeface="Arial"/>
                <a:cs typeface="Arial"/>
              </a:defRPr>
            </a:pPr>
            <a:r>
              <a:rPr sz="2175" b="1">
                <a:solidFill>
                  <a:srgbClr val="202D2A"/>
                </a:solidFill>
                <a:latin typeface="Arial"/>
                <a:ea typeface="Arial"/>
                <a:cs typeface="Arial"/>
              </a:rPr>
              <a:t>Cardboard opinions</a:t>
            </a:r>
          </a:p>
        </p:txBody>
      </p:sp>
      <p:sp>
        <p:nvSpPr>
          <p:cNvPr id="11" name="">
            <a:extLst xmlns:a="http://schemas.openxmlformats.org/drawingml/2006/main">
              <a:ext uri="{FF2B5EF4-FFF2-40B4-BE49-F238E27FC236}">
                <a16:creationId xmlns:a16="http://schemas.microsoft.com/office/drawing/2014/main" id="{6928191E-DE28-4552-8D5F-4CAC70F4E59C}"/>
              </a:ext>
            </a:extLst>
          </p:cNvPr>
          <p:cNvSpPr>
            <a:spLocks xmlns:a="http://schemas.openxmlformats.org/drawingml/2006/main" noGrp="1"/>
          </p:cNvSpPr>
          <p:nvPr/>
        </p:nvSpPr>
        <p:spPr>
          <a:xfrm xmlns:a="http://schemas.openxmlformats.org/drawingml/2006/main">
            <a:off x="609600" y="47148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02D2A"/>
                </a:solidFill>
                <a:latin typeface="Arial"/>
                <a:ea typeface="Arial"/>
                <a:cs typeface="Arial"/>
              </a:defRPr>
            </a:pPr>
            <a:r>
              <a:rPr sz="2025" b="0">
                <a:solidFill>
                  <a:srgbClr val="202D2A"/>
                </a:solidFill>
                <a:latin typeface="Arial"/>
                <a:ea typeface="Arial"/>
                <a:cs typeface="Arial"/>
              </a:rPr>
              <a:t>Keep stated non-use separate from opinions and ambiguous use.</a:t>
            </a:r>
          </a:p>
        </p:txBody>
      </p:sp>
      <p:sp>
        <p:nvSpPr>
          <p:cNvPr id="12" name="">
            <a:extLst xmlns:a="http://schemas.openxmlformats.org/drawingml/2006/main">
              <a:ext uri="{FF2B5EF4-FFF2-40B4-BE49-F238E27FC236}">
                <a16:creationId xmlns:a16="http://schemas.microsoft.com/office/drawing/2014/main" id="{BDF6ED3B-FBCC-4EEC-8DBC-088B2523FC38}"/>
              </a:ext>
            </a:extLst>
          </p:cNvPr>
          <p:cNvSpPr>
            <a:spLocks xmlns:a="http://schemas.openxmlformats.org/drawingml/2006/main" noGrp="1"/>
          </p:cNvSpPr>
          <p:nvPr/>
        </p:nvSpPr>
        <p:spPr>
          <a:xfrm xmlns:a="http://schemas.openxmlformats.org/drawingml/2006/main">
            <a:off x="609600" y="5438775"/>
            <a:ext cx="10972800" cy="676275"/>
          </a:xfrm>
          <a:prstGeom xmlns:a="http://schemas.openxmlformats.org/drawingml/2006/main" prst="rect">
            <a:avLst/>
          </a:prstGeom>
          <a:solidFill xmlns:a="http://schemas.openxmlformats.org/drawingml/2006/main">
            <a:srgbClr val="E4E8D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137D4DD-389C-4051-95AC-85C6E8C4E8C5}"/>
              </a:ext>
            </a:extLst>
          </p:cNvPr>
          <p:cNvSpPr>
            <a:spLocks xmlns:a="http://schemas.openxmlformats.org/drawingml/2006/main" noGrp="1"/>
          </p:cNvSpPr>
          <p:nvPr/>
        </p:nvSpPr>
        <p:spPr>
          <a:xfrm xmlns:a="http://schemas.openxmlformats.org/drawingml/2006/main">
            <a:off x="819150" y="55816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202D2A"/>
                </a:solidFill>
                <a:latin typeface="Arial"/>
                <a:ea typeface="Arial"/>
                <a:cs typeface="Arial"/>
              </a:defRPr>
            </a:pPr>
            <a:r>
              <a:rPr sz="1725" b="0">
                <a:solidFill>
                  <a:srgbClr val="202D2A"/>
                </a:solidFill>
                <a:latin typeface="Arial"/>
                <a:ea typeface="Arial"/>
                <a:cs typeface="Arial"/>
              </a:rPr>
              <a:t>Enough to guide the content. Product performance and purchase intent remain unknown.</a:t>
            </a:r>
          </a:p>
        </p:txBody>
      </p:sp>
    </p:spTree>
    <p:extLst>
      <p:ext uri="{BB962C8B-B14F-4D97-AF65-F5344CB8AC3E}">
        <p14:creationId xmlns:p14="http://schemas.microsoft.com/office/powerpoint/2010/main" val="781848633"/>
      </p:ext>
    </p:extLst>
  </p:cSld>
</p:sld>
</file>

<file path=ppt/slides/slide6.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F61CD6-9DC2-4812-9CFB-F925AE1B41A3}"/>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D562F"/>
                </a:solidFill>
                <a:latin typeface="Arial"/>
                <a:ea typeface="Arial"/>
                <a:cs typeface="Arial"/>
              </a:defRPr>
            </a:pPr>
            <a:r>
              <a:rPr sz="1350" b="1">
                <a:solidFill>
                  <a:srgbClr val="AD562F"/>
                </a:solidFill>
                <a:latin typeface="Arial"/>
                <a:ea typeface="Arial"/>
                <a:cs typeface="Arial"/>
              </a:rPr>
              <a:t>RESULT → EDITORIAL REVISION</a:t>
            </a:r>
          </a:p>
        </p:txBody>
      </p:sp>
      <p:sp>
        <p:nvSpPr>
          <p:cNvPr id="2" name="">
            <a:extLst xmlns:a="http://schemas.openxmlformats.org/drawingml/2006/main">
              <a:ext uri="{FF2B5EF4-FFF2-40B4-BE49-F238E27FC236}">
                <a16:creationId xmlns:a16="http://schemas.microsoft.com/office/drawing/2014/main" id="{CD8B1E74-A976-49FB-8D6A-E77A81B2DA5F}"/>
              </a:ext>
            </a:extLst>
          </p:cNvPr>
          <p:cNvSpPr>
            <a:spLocks xmlns:a="http://schemas.openxmlformats.org/drawingml/2006/main" noGrp="1"/>
          </p:cNvSpPr>
          <p:nvPr/>
        </p:nvSpPr>
        <p:spPr>
          <a:xfrm xmlns:a="http://schemas.openxmlformats.org/drawingml/2006/main">
            <a:off x="609600" y="838200"/>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Actual replies changed the first article.</a:t>
            </a:r>
          </a:p>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The aid revision remains an untested prototype.</a:t>
            </a:r>
          </a:p>
        </p:txBody>
      </p:sp>
      <p:sp>
        <p:nvSpPr>
          <p:cNvPr id="3" name="">
            <a:extLst xmlns:a="http://schemas.openxmlformats.org/drawingml/2006/main">
              <a:ext uri="{FF2B5EF4-FFF2-40B4-BE49-F238E27FC236}">
                <a16:creationId xmlns:a16="http://schemas.microsoft.com/office/drawing/2014/main" id="{2A698312-D18A-407F-991D-5BB5481ADFDA}"/>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CF3B4E4-32D2-421A-945D-DD1846455327}"/>
              </a:ext>
            </a:extLst>
          </p:cNvPr>
          <p:cNvSpPr>
            <a:spLocks xmlns:a="http://schemas.openxmlformats.org/drawingml/2006/main" noGrp="1"/>
          </p:cNvSpPr>
          <p:nvPr/>
        </p:nvSpPr>
        <p:spPr>
          <a:xfrm xmlns:a="http://schemas.openxmlformats.org/drawingml/2006/main">
            <a:off x="6096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Titash Sinha  /  Independent, AI-assisted work sample  /  6 October 2026</a:t>
            </a:r>
          </a:p>
        </p:txBody>
      </p:sp>
      <p:sp>
        <p:nvSpPr>
          <p:cNvPr id="5" name="">
            <a:extLst xmlns:a="http://schemas.openxmlformats.org/drawingml/2006/main">
              <a:ext uri="{FF2B5EF4-FFF2-40B4-BE49-F238E27FC236}">
                <a16:creationId xmlns:a16="http://schemas.microsoft.com/office/drawing/2014/main" id="{87F419B7-FD50-42C8-8072-24A98745AE62}"/>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D98B50DF-E374-4F4E-8307-295F0C4CD85F}"/>
              </a:ext>
            </a:extLst>
          </p:cNvPr>
          <p:cNvSpPr>
            <a:spLocks xmlns:a="http://schemas.openxmlformats.org/drawingml/2006/main" noGrp="1"/>
          </p:cNvSpPr>
          <p:nvPr/>
        </p:nvSpPr>
        <p:spPr>
          <a:xfrm xmlns:a="http://schemas.openxmlformats.org/drawingml/2006/main">
            <a:off x="609600" y="21907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D562F"/>
                </a:solidFill>
                <a:latin typeface="Arial"/>
                <a:ea typeface="Arial"/>
                <a:cs typeface="Arial"/>
              </a:defRPr>
            </a:pPr>
            <a:r>
              <a:rPr sz="1800" b="1">
                <a:solidFill>
                  <a:srgbClr val="AD562F"/>
                </a:solidFill>
                <a:latin typeface="Arial"/>
                <a:ea typeface="Arial"/>
                <a:cs typeface="Arial"/>
              </a:rPr>
              <a:t>BEFORE: A GENERAL CHOICE FRAME</a:t>
            </a:r>
          </a:p>
        </p:txBody>
      </p:sp>
      <p:sp>
        <p:nvSpPr>
          <p:cNvPr id="7" name="">
            <a:extLst xmlns:a="http://schemas.openxmlformats.org/drawingml/2006/main">
              <a:ext uri="{FF2B5EF4-FFF2-40B4-BE49-F238E27FC236}">
                <a16:creationId xmlns:a16="http://schemas.microsoft.com/office/drawing/2014/main" id="{50C8C861-495A-4833-B9B5-D7CCA8F1A363}"/>
              </a:ext>
            </a:extLst>
          </p:cNvPr>
          <p:cNvSpPr>
            <a:spLocks xmlns:a="http://schemas.openxmlformats.org/drawingml/2006/main" noGrp="1"/>
          </p:cNvSpPr>
          <p:nvPr/>
        </p:nvSpPr>
        <p:spPr>
          <a:xfrm xmlns:a="http://schemas.openxmlformats.org/drawingml/2006/main">
            <a:off x="609600" y="2724150"/>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Ask whether a different editor would</a:t>
            </a:r>
          </a:p>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help with a real recent video.</a:t>
            </a:r>
          </a:p>
        </p:txBody>
      </p:sp>
      <p:sp>
        <p:nvSpPr>
          <p:cNvPr id="8" name="">
            <a:extLst xmlns:a="http://schemas.openxmlformats.org/drawingml/2006/main">
              <a:ext uri="{FF2B5EF4-FFF2-40B4-BE49-F238E27FC236}">
                <a16:creationId xmlns:a16="http://schemas.microsoft.com/office/drawing/2014/main" id="{0E608BED-FAA9-4BAE-9F7F-56C5ADA5C3E5}"/>
              </a:ext>
            </a:extLst>
          </p:cNvPr>
          <p:cNvSpPr>
            <a:spLocks xmlns:a="http://schemas.openxmlformats.org/drawingml/2006/main" noGrp="1"/>
          </p:cNvSpPr>
          <p:nvPr/>
        </p:nvSpPr>
        <p:spPr>
          <a:xfrm xmlns:a="http://schemas.openxmlformats.org/drawingml/2006/main">
            <a:off x="609600" y="3943350"/>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Correction and output checks were</a:t>
            </a:r>
          </a:p>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present, but less stage-specific.</a:t>
            </a:r>
          </a:p>
        </p:txBody>
      </p:sp>
      <p:sp>
        <p:nvSpPr>
          <p:cNvPr id="9" name="">
            <a:extLst xmlns:a="http://schemas.openxmlformats.org/drawingml/2006/main">
              <a:ext uri="{FF2B5EF4-FFF2-40B4-BE49-F238E27FC236}">
                <a16:creationId xmlns:a16="http://schemas.microsoft.com/office/drawing/2014/main" id="{189B67FC-5C18-475F-9DE4-340C0E0F00DD}"/>
              </a:ext>
            </a:extLst>
          </p:cNvPr>
          <p:cNvSpPr>
            <a:spLocks xmlns:a="http://schemas.openxmlformats.org/drawingml/2006/main" noGrp="1"/>
          </p:cNvSpPr>
          <p:nvPr/>
        </p:nvSpPr>
        <p:spPr>
          <a:xfrm xmlns:a="http://schemas.openxmlformats.org/drawingml/2006/main">
            <a:off x="6381750" y="21907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D562F"/>
                </a:solidFill>
                <a:latin typeface="Arial"/>
                <a:ea typeface="Arial"/>
                <a:cs typeface="Arial"/>
              </a:defRPr>
            </a:pPr>
            <a:r>
              <a:rPr sz="1800" b="1">
                <a:solidFill>
                  <a:srgbClr val="AD562F"/>
                </a:solidFill>
                <a:latin typeface="Arial"/>
                <a:ea typeface="Arial"/>
                <a:cs typeface="Arial"/>
              </a:rPr>
              <a:t>AFTER: DIAGNOSE THE STAGE</a:t>
            </a:r>
          </a:p>
        </p:txBody>
      </p:sp>
      <p:sp>
        <p:nvSpPr>
          <p:cNvPr id="10" name="">
            <a:extLst xmlns:a="http://schemas.openxmlformats.org/drawingml/2006/main">
              <a:ext uri="{FF2B5EF4-FFF2-40B4-BE49-F238E27FC236}">
                <a16:creationId xmlns:a16="http://schemas.microsoft.com/office/drawing/2014/main" id="{FB7C3327-D119-4BBD-B498-291C48BCFEA5}"/>
              </a:ext>
            </a:extLst>
          </p:cNvPr>
          <p:cNvSpPr>
            <a:spLocks xmlns:a="http://schemas.openxmlformats.org/drawingml/2006/main" noGrp="1"/>
          </p:cNvSpPr>
          <p:nvPr/>
        </p:nvSpPr>
        <p:spPr>
          <a:xfrm xmlns:a="http://schemas.openxmlformats.org/drawingml/2006/main">
            <a:off x="6381750" y="2724150"/>
            <a:ext cx="519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Separate planning, source footage,</a:t>
            </a:r>
          </a:p>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assembly, motion and finishing.</a:t>
            </a:r>
          </a:p>
        </p:txBody>
      </p:sp>
      <p:sp>
        <p:nvSpPr>
          <p:cNvPr id="11" name="">
            <a:extLst xmlns:a="http://schemas.openxmlformats.org/drawingml/2006/main">
              <a:ext uri="{FF2B5EF4-FFF2-40B4-BE49-F238E27FC236}">
                <a16:creationId xmlns:a16="http://schemas.microsoft.com/office/drawing/2014/main" id="{6E867857-06B3-4379-8028-7E46F5741CE8}"/>
              </a:ext>
            </a:extLst>
          </p:cNvPr>
          <p:cNvSpPr>
            <a:spLocks xmlns:a="http://schemas.openxmlformats.org/drawingml/2006/main" noGrp="1"/>
          </p:cNvSpPr>
          <p:nvPr/>
        </p:nvSpPr>
        <p:spPr>
          <a:xfrm xmlns:a="http://schemas.openxmlformats.org/drawingml/2006/main">
            <a:off x="6381750" y="3943350"/>
            <a:ext cx="5191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Distinguish useful craft from rework.</a:t>
            </a:r>
          </a:p>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Inspect editability and whole-project fit.</a:t>
            </a:r>
          </a:p>
        </p:txBody>
      </p:sp>
      <p:sp>
        <p:nvSpPr>
          <p:cNvPr id="12" name="">
            <a:extLst xmlns:a="http://schemas.openxmlformats.org/drawingml/2006/main">
              <a:ext uri="{FF2B5EF4-FFF2-40B4-BE49-F238E27FC236}">
                <a16:creationId xmlns:a16="http://schemas.microsoft.com/office/drawing/2014/main" id="{41F97178-6552-4C72-BCC0-FA2B12CF67FA}"/>
              </a:ext>
            </a:extLst>
          </p:cNvPr>
          <p:cNvSpPr>
            <a:spLocks xmlns:a="http://schemas.openxmlformats.org/drawingml/2006/main" noGrp="1"/>
          </p:cNvSpPr>
          <p:nvPr/>
        </p:nvSpPr>
        <p:spPr>
          <a:xfrm xmlns:a="http://schemas.openxmlformats.org/drawingml/2006/main">
            <a:off x="609600" y="5743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35C"/>
                </a:solidFill>
                <a:latin typeface="Arial"/>
                <a:ea typeface="Arial"/>
                <a:cs typeface="Arial"/>
              </a:defRPr>
            </a:pPr>
            <a:r>
              <a:rPr sz="1425" b="0">
                <a:solidFill>
                  <a:srgbClr val="56635C"/>
                </a:solidFill>
                <a:latin typeface="Arial"/>
                <a:ea typeface="Arial"/>
                <a:cs typeface="Arial"/>
              </a:rPr>
              <a:t>Reply-informed editorial revision; no demonstrated reader effect or executed aid feedback.</a:t>
            </a:r>
          </a:p>
        </p:txBody>
      </p:sp>
    </p:spTree>
    <p:extLst>
      <p:ext uri="{BB962C8B-B14F-4D97-AF65-F5344CB8AC3E}">
        <p14:creationId xmlns:p14="http://schemas.microsoft.com/office/powerpoint/2010/main" val="361983057"/>
      </p:ext>
    </p:extLst>
  </p:cSld>
</p:sld>
</file>

<file path=ppt/slides/slide7.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E58198E-9738-4EEC-A527-BEDA8D847192}"/>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D562F"/>
                </a:solidFill>
                <a:latin typeface="Arial"/>
                <a:ea typeface="Arial"/>
                <a:cs typeface="Arial"/>
              </a:defRPr>
            </a:pPr>
            <a:r>
              <a:rPr sz="1350" b="1">
                <a:solidFill>
                  <a:srgbClr val="AD562F"/>
                </a:solidFill>
                <a:latin typeface="Arial"/>
                <a:ea typeface="Arial"/>
                <a:cs typeface="Arial"/>
              </a:rPr>
              <a:t>CONTENT PACKAGE</a:t>
            </a:r>
          </a:p>
        </p:txBody>
      </p:sp>
      <p:sp>
        <p:nvSpPr>
          <p:cNvPr id="2" name="">
            <a:extLst xmlns:a="http://schemas.openxmlformats.org/drawingml/2006/main">
              <a:ext uri="{FF2B5EF4-FFF2-40B4-BE49-F238E27FC236}">
                <a16:creationId xmlns:a16="http://schemas.microsoft.com/office/drawing/2014/main" id="{FAF6B867-BF27-4978-BA06-F57D787ECE61}"/>
              </a:ext>
            </a:extLst>
          </p:cNvPr>
          <p:cNvSpPr>
            <a:spLocks xmlns:a="http://schemas.openxmlformats.org/drawingml/2006/main" noGrp="1"/>
          </p:cNvSpPr>
          <p:nvPr/>
        </p:nvSpPr>
        <p:spPr>
          <a:xfrm xmlns:a="http://schemas.openxmlformats.org/drawingml/2006/main">
            <a:off x="609600" y="838200"/>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Five task-specific articles</a:t>
            </a:r>
          </a:p>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and a complete evaluation-page copy sample</a:t>
            </a:r>
          </a:p>
        </p:txBody>
      </p:sp>
      <p:sp>
        <p:nvSpPr>
          <p:cNvPr id="3" name="">
            <a:extLst xmlns:a="http://schemas.openxmlformats.org/drawingml/2006/main">
              <a:ext uri="{FF2B5EF4-FFF2-40B4-BE49-F238E27FC236}">
                <a16:creationId xmlns:a16="http://schemas.microsoft.com/office/drawing/2014/main" id="{8D110354-5895-4B9D-AD59-019DFA5DF718}"/>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265D914-EAE9-4EEF-9C95-D781E6A2CD9C}"/>
              </a:ext>
            </a:extLst>
          </p:cNvPr>
          <p:cNvSpPr>
            <a:spLocks xmlns:a="http://schemas.openxmlformats.org/drawingml/2006/main" noGrp="1"/>
          </p:cNvSpPr>
          <p:nvPr/>
        </p:nvSpPr>
        <p:spPr>
          <a:xfrm xmlns:a="http://schemas.openxmlformats.org/drawingml/2006/main">
            <a:off x="6096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Titash Sinha  /  Independent, AI-assisted work sample  /  6 October 2026</a:t>
            </a:r>
          </a:p>
        </p:txBody>
      </p:sp>
      <p:sp>
        <p:nvSpPr>
          <p:cNvPr id="5" name="">
            <a:extLst xmlns:a="http://schemas.openxmlformats.org/drawingml/2006/main">
              <a:ext uri="{FF2B5EF4-FFF2-40B4-BE49-F238E27FC236}">
                <a16:creationId xmlns:a16="http://schemas.microsoft.com/office/drawing/2014/main" id="{EEE60E32-883A-4CF5-92E6-444483A1B0EB}"/>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97E0F04D-169D-4D62-BC25-DCBB4E8C7B07}"/>
              </a:ext>
            </a:extLst>
          </p:cNvPr>
          <p:cNvSpPr>
            <a:spLocks xmlns:a="http://schemas.openxmlformats.org/drawingml/2006/main" noGrp="1"/>
          </p:cNvSpPr>
          <p:nvPr/>
        </p:nvSpPr>
        <p:spPr>
          <a:xfrm xmlns:a="http://schemas.openxmlformats.org/drawingml/2006/main">
            <a:off x="609600" y="21907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D562F"/>
                </a:solidFill>
                <a:latin typeface="Arial"/>
                <a:ea typeface="Arial"/>
                <a:cs typeface="Arial"/>
              </a:defRPr>
            </a:pPr>
            <a:r>
              <a:rPr sz="1875" b="1">
                <a:solidFill>
                  <a:srgbClr val="AD562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629778E1-B12E-4FBB-98B9-A1A61C5BA479}"/>
              </a:ext>
            </a:extLst>
          </p:cNvPr>
          <p:cNvSpPr>
            <a:spLocks xmlns:a="http://schemas.openxmlformats.org/drawingml/2006/main" noGrp="1"/>
          </p:cNvSpPr>
          <p:nvPr/>
        </p:nvSpPr>
        <p:spPr>
          <a:xfrm xmlns:a="http://schemas.openxmlformats.org/drawingml/2006/main">
            <a:off x="1409700" y="2190750"/>
            <a:ext cx="657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Choose a workflow without assuming a switch</a:t>
            </a:r>
          </a:p>
        </p:txBody>
      </p:sp>
      <p:sp>
        <p:nvSpPr>
          <p:cNvPr id="8" name="">
            <a:extLst xmlns:a="http://schemas.openxmlformats.org/drawingml/2006/main">
              <a:ext uri="{FF2B5EF4-FFF2-40B4-BE49-F238E27FC236}">
                <a16:creationId xmlns:a16="http://schemas.microsoft.com/office/drawing/2014/main" id="{FA71FB78-80ED-4835-93C4-5C91E1A966A5}"/>
              </a:ext>
            </a:extLst>
          </p:cNvPr>
          <p:cNvSpPr>
            <a:spLocks xmlns:a="http://schemas.openxmlformats.org/drawingml/2006/main" noGrp="1"/>
          </p:cNvSpPr>
          <p:nvPr/>
        </p:nvSpPr>
        <p:spPr>
          <a:xfrm xmlns:a="http://schemas.openxmlformats.org/drawingml/2006/main">
            <a:off x="609600" y="282892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D562F"/>
                </a:solidFill>
                <a:latin typeface="Arial"/>
                <a:ea typeface="Arial"/>
                <a:cs typeface="Arial"/>
              </a:defRPr>
            </a:pPr>
            <a:r>
              <a:rPr sz="1875" b="1">
                <a:solidFill>
                  <a:srgbClr val="AD562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B0CF9F2-9E83-4019-8BFC-34C238D9E1E9}"/>
              </a:ext>
            </a:extLst>
          </p:cNvPr>
          <p:cNvSpPr>
            <a:spLocks xmlns:a="http://schemas.openxmlformats.org/drawingml/2006/main" noGrp="1"/>
          </p:cNvSpPr>
          <p:nvPr/>
        </p:nvSpPr>
        <p:spPr>
          <a:xfrm xmlns:a="http://schemas.openxmlformats.org/drawingml/2006/main">
            <a:off x="1409700" y="2828925"/>
            <a:ext cx="657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QA a recorded SaaS product demo</a:t>
            </a:r>
          </a:p>
        </p:txBody>
      </p:sp>
      <p:sp>
        <p:nvSpPr>
          <p:cNvPr id="10" name="">
            <a:extLst xmlns:a="http://schemas.openxmlformats.org/drawingml/2006/main">
              <a:ext uri="{FF2B5EF4-FFF2-40B4-BE49-F238E27FC236}">
                <a16:creationId xmlns:a16="http://schemas.microsoft.com/office/drawing/2014/main" id="{0097030F-DD15-449B-BD67-4718749E95B9}"/>
              </a:ext>
            </a:extLst>
          </p:cNvPr>
          <p:cNvSpPr>
            <a:spLocks xmlns:a="http://schemas.openxmlformats.org/drawingml/2006/main" noGrp="1"/>
          </p:cNvSpPr>
          <p:nvPr/>
        </p:nvSpPr>
        <p:spPr>
          <a:xfrm xmlns:a="http://schemas.openxmlformats.org/drawingml/2006/main">
            <a:off x="609600" y="346710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D562F"/>
                </a:solidFill>
                <a:latin typeface="Arial"/>
                <a:ea typeface="Arial"/>
                <a:cs typeface="Arial"/>
              </a:defRPr>
            </a:pPr>
            <a:r>
              <a:rPr sz="1875" b="1">
                <a:solidFill>
                  <a:srgbClr val="AD562F"/>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70722CE-A44B-4F20-9FA0-D2D64600E47A}"/>
              </a:ext>
            </a:extLst>
          </p:cNvPr>
          <p:cNvSpPr>
            <a:spLocks xmlns:a="http://schemas.openxmlformats.org/drawingml/2006/main" noGrp="1"/>
          </p:cNvSpPr>
          <p:nvPr/>
        </p:nvSpPr>
        <p:spPr>
          <a:xfrm xmlns:a="http://schemas.openxmlformats.org/drawingml/2006/main">
            <a:off x="1409700" y="3467100"/>
            <a:ext cx="657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Inspect an editable AI-video handoff</a:t>
            </a:r>
          </a:p>
        </p:txBody>
      </p:sp>
      <p:sp>
        <p:nvSpPr>
          <p:cNvPr id="12" name="">
            <a:extLst xmlns:a="http://schemas.openxmlformats.org/drawingml/2006/main">
              <a:ext uri="{FF2B5EF4-FFF2-40B4-BE49-F238E27FC236}">
                <a16:creationId xmlns:a16="http://schemas.microsoft.com/office/drawing/2014/main" id="{38B34F9D-C7A0-49B1-BCFE-965FFBF5CBA0}"/>
              </a:ext>
            </a:extLst>
          </p:cNvPr>
          <p:cNvSpPr>
            <a:spLocks xmlns:a="http://schemas.openxmlformats.org/drawingml/2006/main" noGrp="1"/>
          </p:cNvSpPr>
          <p:nvPr/>
        </p:nvSpPr>
        <p:spPr>
          <a:xfrm xmlns:a="http://schemas.openxmlformats.org/drawingml/2006/main">
            <a:off x="609600" y="4105275"/>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D562F"/>
                </a:solidFill>
                <a:latin typeface="Arial"/>
                <a:ea typeface="Arial"/>
                <a:cs typeface="Arial"/>
              </a:defRPr>
            </a:pPr>
            <a:r>
              <a:rPr sz="1875" b="1">
                <a:solidFill>
                  <a:srgbClr val="AD562F"/>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03332EF7-5A8B-42D2-BA7D-0AB4021CD486}"/>
              </a:ext>
            </a:extLst>
          </p:cNvPr>
          <p:cNvSpPr>
            <a:spLocks xmlns:a="http://schemas.openxmlformats.org/drawingml/2006/main" noGrp="1"/>
          </p:cNvSpPr>
          <p:nvPr/>
        </p:nvSpPr>
        <p:spPr>
          <a:xfrm xmlns:a="http://schemas.openxmlformats.org/drawingml/2006/main">
            <a:off x="1409700" y="4105275"/>
            <a:ext cx="657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Compare Cardboard and Descript by workflow</a:t>
            </a:r>
          </a:p>
        </p:txBody>
      </p:sp>
      <p:sp>
        <p:nvSpPr>
          <p:cNvPr id="14" name="">
            <a:extLst xmlns:a="http://schemas.openxmlformats.org/drawingml/2006/main">
              <a:ext uri="{FF2B5EF4-FFF2-40B4-BE49-F238E27FC236}">
                <a16:creationId xmlns:a16="http://schemas.microsoft.com/office/drawing/2014/main" id="{E7D73704-ECAB-49B0-A1E6-E036100683A8}"/>
              </a:ext>
            </a:extLst>
          </p:cNvPr>
          <p:cNvSpPr>
            <a:spLocks xmlns:a="http://schemas.openxmlformats.org/drawingml/2006/main" noGrp="1"/>
          </p:cNvSpPr>
          <p:nvPr/>
        </p:nvSpPr>
        <p:spPr>
          <a:xfrm xmlns:a="http://schemas.openxmlformats.org/drawingml/2006/main">
            <a:off x="609600" y="4743450"/>
            <a:ext cx="60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D562F"/>
                </a:solidFill>
                <a:latin typeface="Arial"/>
                <a:ea typeface="Arial"/>
                <a:cs typeface="Arial"/>
              </a:defRPr>
            </a:pPr>
            <a:r>
              <a:rPr sz="1875" b="1">
                <a:solidFill>
                  <a:srgbClr val="AD562F"/>
                </a:solidFill>
                <a:latin typeface="Arial"/>
                <a:ea typeface="Arial"/>
                <a:cs typeface="Arial"/>
              </a:rPr>
              <a:t>05</a:t>
            </a:r>
          </a:p>
        </p:txBody>
      </p:sp>
      <p:sp>
        <p:nvSpPr>
          <p:cNvPr id="15" name="">
            <a:extLst xmlns:a="http://schemas.openxmlformats.org/drawingml/2006/main">
              <a:ext uri="{FF2B5EF4-FFF2-40B4-BE49-F238E27FC236}">
                <a16:creationId xmlns:a16="http://schemas.microsoft.com/office/drawing/2014/main" id="{94E0C50A-1328-474F-BEA9-863CA6067E0E}"/>
              </a:ext>
            </a:extLst>
          </p:cNvPr>
          <p:cNvSpPr>
            <a:spLocks xmlns:a="http://schemas.openxmlformats.org/drawingml/2006/main" noGrp="1"/>
          </p:cNvSpPr>
          <p:nvPr/>
        </p:nvSpPr>
        <p:spPr>
          <a:xfrm xmlns:a="http://schemas.openxmlformats.org/drawingml/2006/main">
            <a:off x="1409700" y="4743450"/>
            <a:ext cx="657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Adapt one demo feature for LinkedIn</a:t>
            </a:r>
          </a:p>
        </p:txBody>
      </p:sp>
      <p:sp>
        <p:nvSpPr>
          <p:cNvPr id="16" name="">
            <a:extLst xmlns:a="http://schemas.openxmlformats.org/drawingml/2006/main">
              <a:ext uri="{FF2B5EF4-FFF2-40B4-BE49-F238E27FC236}">
                <a16:creationId xmlns:a16="http://schemas.microsoft.com/office/drawing/2014/main" id="{6E69D81A-E174-404A-AE84-9D8F81958E27}"/>
              </a:ext>
            </a:extLst>
          </p:cNvPr>
          <p:cNvSpPr>
            <a:spLocks xmlns:a="http://schemas.openxmlformats.org/drawingml/2006/main" noGrp="1"/>
          </p:cNvSpPr>
          <p:nvPr/>
        </p:nvSpPr>
        <p:spPr>
          <a:xfrm xmlns:a="http://schemas.openxmlformats.org/drawingml/2006/main">
            <a:off x="8553450" y="2133600"/>
            <a:ext cx="3028950" cy="3238500"/>
          </a:xfrm>
          <a:prstGeom xmlns:a="http://schemas.openxmlformats.org/drawingml/2006/main" prst="rect">
            <a:avLst/>
          </a:prstGeom>
          <a:solidFill xmlns:a="http://schemas.openxmlformats.org/drawingml/2006/main">
            <a:srgbClr val="E4E8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62CA57B-3E14-4EF4-9B0F-D21E604F5E3C}"/>
              </a:ext>
            </a:extLst>
          </p:cNvPr>
          <p:cNvSpPr>
            <a:spLocks xmlns:a="http://schemas.openxmlformats.org/drawingml/2006/main" noGrp="1"/>
          </p:cNvSpPr>
          <p:nvPr/>
        </p:nvSpPr>
        <p:spPr>
          <a:xfrm xmlns:a="http://schemas.openxmlformats.org/drawingml/2006/main">
            <a:off x="8782050" y="2343150"/>
            <a:ext cx="2590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AD562F"/>
                </a:solidFill>
                <a:latin typeface="Arial"/>
                <a:ea typeface="Arial"/>
                <a:cs typeface="Arial"/>
              </a:defRPr>
            </a:pPr>
            <a:r>
              <a:rPr sz="1575" b="1">
                <a:solidFill>
                  <a:srgbClr val="AD562F"/>
                </a:solidFill>
                <a:latin typeface="Arial"/>
                <a:ea typeface="Arial"/>
                <a:cs typeface="Arial"/>
              </a:rPr>
              <a:t>PAGE SAMPLE</a:t>
            </a:r>
          </a:p>
        </p:txBody>
      </p:sp>
      <p:sp>
        <p:nvSpPr>
          <p:cNvPr id="18" name="">
            <a:extLst xmlns:a="http://schemas.openxmlformats.org/drawingml/2006/main">
              <a:ext uri="{FF2B5EF4-FFF2-40B4-BE49-F238E27FC236}">
                <a16:creationId xmlns:a16="http://schemas.microsoft.com/office/drawing/2014/main" id="{A839EF89-40EC-45B4-9F50-851ED3A0B613}"/>
              </a:ext>
            </a:extLst>
          </p:cNvPr>
          <p:cNvSpPr>
            <a:spLocks xmlns:a="http://schemas.openxmlformats.org/drawingml/2006/main" noGrp="1"/>
          </p:cNvSpPr>
          <p:nvPr/>
        </p:nvSpPr>
        <p:spPr>
          <a:xfrm xmlns:a="http://schemas.openxmlformats.org/drawingml/2006/main">
            <a:off x="8782050" y="2924175"/>
            <a:ext cx="2571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02D2A"/>
                </a:solidFill>
                <a:latin typeface="Arial"/>
                <a:ea typeface="Arial"/>
                <a:cs typeface="Arial"/>
              </a:defRPr>
            </a:pPr>
            <a:r>
              <a:rPr sz="2550" b="1">
                <a:solidFill>
                  <a:srgbClr val="202D2A"/>
                </a:solidFill>
                <a:latin typeface="Arial"/>
                <a:ea typeface="Arial"/>
                <a:cs typeface="Arial"/>
              </a:rPr>
              <a:t>One feature.</a:t>
            </a:r>
          </a:p>
          <a:p xmlns:a="http://schemas.openxmlformats.org/drawingml/2006/main">
            <a:pPr>
              <a:defRPr sz="2550" b="1">
                <a:solidFill>
                  <a:srgbClr val="202D2A"/>
                </a:solidFill>
                <a:latin typeface="Arial"/>
                <a:ea typeface="Arial"/>
                <a:cs typeface="Arial"/>
              </a:defRPr>
            </a:pPr>
            <a:r>
              <a:rPr sz="2550" b="1">
                <a:solidFill>
                  <a:srgbClr val="202D2A"/>
                </a:solidFill>
                <a:latin typeface="Arial"/>
                <a:ea typeface="Arial"/>
                <a:cs typeface="Arial"/>
              </a:rPr>
              <a:t>One explanation.</a:t>
            </a:r>
          </a:p>
        </p:txBody>
      </p:sp>
      <p:sp>
        <p:nvSpPr>
          <p:cNvPr id="19" name="">
            <a:extLst xmlns:a="http://schemas.openxmlformats.org/drawingml/2006/main">
              <a:ext uri="{FF2B5EF4-FFF2-40B4-BE49-F238E27FC236}">
                <a16:creationId xmlns:a16="http://schemas.microsoft.com/office/drawing/2014/main" id="{46714CC1-6D9A-469F-BF7A-ADCFE0979007}"/>
              </a:ext>
            </a:extLst>
          </p:cNvPr>
          <p:cNvSpPr>
            <a:spLocks xmlns:a="http://schemas.openxmlformats.org/drawingml/2006/main" noGrp="1"/>
          </p:cNvSpPr>
          <p:nvPr/>
        </p:nvSpPr>
        <p:spPr>
          <a:xfrm xmlns:a="http://schemas.openxmlformats.org/drawingml/2006/main">
            <a:off x="8782050" y="4305300"/>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D2A"/>
                </a:solidFill>
                <a:latin typeface="Arial"/>
                <a:ea typeface="Arial"/>
                <a:cs typeface="Arial"/>
              </a:defRPr>
            </a:pPr>
            <a:r>
              <a:rPr sz="1800" b="0">
                <a:solidFill>
                  <a:srgbClr val="202D2A"/>
                </a:solidFill>
                <a:latin typeface="Arial"/>
                <a:ea typeface="Arial"/>
                <a:cs typeface="Arial"/>
              </a:rPr>
              <a:t>Inputs → first cut →</a:t>
            </a:r>
          </a:p>
          <a:p xmlns:a="http://schemas.openxmlformats.org/drawingml/2006/main">
            <a:pPr>
              <a:defRPr sz="1800" b="0">
                <a:solidFill>
                  <a:srgbClr val="202D2A"/>
                </a:solidFill>
                <a:latin typeface="Arial"/>
                <a:ea typeface="Arial"/>
                <a:cs typeface="Arial"/>
              </a:defRPr>
            </a:pPr>
            <a:r>
              <a:rPr sz="1800" b="0">
                <a:solidFill>
                  <a:srgbClr val="202D2A"/>
                </a:solidFill>
                <a:latin typeface="Arial"/>
                <a:ea typeface="Arial"/>
                <a:cs typeface="Arial"/>
              </a:rPr>
              <a:t>correction → export checks</a:t>
            </a:r>
          </a:p>
        </p:txBody>
      </p:sp>
      <p:sp>
        <p:nvSpPr>
          <p:cNvPr id="20" name="">
            <a:extLst xmlns:a="http://schemas.openxmlformats.org/drawingml/2006/main">
              <a:ext uri="{FF2B5EF4-FFF2-40B4-BE49-F238E27FC236}">
                <a16:creationId xmlns:a16="http://schemas.microsoft.com/office/drawing/2014/main" id="{1D9A2F56-F34C-4BAB-AAA2-E27E7A88CAD0}"/>
              </a:ext>
            </a:extLst>
          </p:cNvPr>
          <p:cNvSpPr>
            <a:spLocks xmlns:a="http://schemas.openxmlformats.org/drawingml/2006/main" noGrp="1"/>
          </p:cNvSpPr>
          <p:nvPr/>
        </p:nvSpPr>
        <p:spPr>
          <a:xfrm xmlns:a="http://schemas.openxmlformats.org/drawingml/2006/main">
            <a:off x="609600" y="5743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35C"/>
                </a:solidFill>
                <a:latin typeface="Arial"/>
                <a:ea typeface="Arial"/>
                <a:cs typeface="Arial"/>
              </a:defRPr>
            </a:pPr>
            <a:r>
              <a:rPr sz="1425" b="0">
                <a:solidFill>
                  <a:srgbClr val="56635C"/>
                </a:solidFill>
                <a:latin typeface="Arial"/>
                <a:ea typeface="Arial"/>
                <a:cs typeface="Arial"/>
              </a:rPr>
              <a:t>Unpublished. Illustrative storyboard, genuine-proof requirements and truthful access links.</a:t>
            </a:r>
          </a:p>
        </p:txBody>
      </p:sp>
    </p:spTree>
    <p:extLst>
      <p:ext uri="{BB962C8B-B14F-4D97-AF65-F5344CB8AC3E}">
        <p14:creationId xmlns:p14="http://schemas.microsoft.com/office/powerpoint/2010/main" val="314149715"/>
      </p:ext>
    </p:extLst>
  </p:cSld>
</p:sld>
</file>

<file path=ppt/slides/slide8.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9D6BDE5-0B5F-4E46-B9D8-5A80BB689037}"/>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D562F"/>
                </a:solidFill>
                <a:latin typeface="Arial"/>
                <a:ea typeface="Arial"/>
                <a:cs typeface="Arial"/>
              </a:defRPr>
            </a:pPr>
            <a:r>
              <a:rPr sz="1350" b="1">
                <a:solidFill>
                  <a:srgbClr val="AD562F"/>
                </a:solidFill>
                <a:latin typeface="Arial"/>
                <a:ea typeface="Arial"/>
                <a:cs typeface="Arial"/>
              </a:rPr>
              <a:t>AAARRR SPECIFICATION</a:t>
            </a:r>
          </a:p>
        </p:txBody>
      </p:sp>
      <p:sp>
        <p:nvSpPr>
          <p:cNvPr id="2" name="">
            <a:extLst xmlns:a="http://schemas.openxmlformats.org/drawingml/2006/main">
              <a:ext uri="{FF2B5EF4-FFF2-40B4-BE49-F238E27FC236}">
                <a16:creationId xmlns:a16="http://schemas.microsoft.com/office/drawing/2014/main" id="{FE1451E4-8BBB-45CD-9A1D-125185B4693D}"/>
              </a:ext>
            </a:extLst>
          </p:cNvPr>
          <p:cNvSpPr>
            <a:spLocks xmlns:a="http://schemas.openxmlformats.org/drawingml/2006/main" noGrp="1"/>
          </p:cNvSpPr>
          <p:nvPr/>
        </p:nvSpPr>
        <p:spPr>
          <a:xfrm xmlns:a="http://schemas.openxmlformats.org/drawingml/2006/main">
            <a:off x="609600" y="838200"/>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Measurement follows delivered value,</a:t>
            </a:r>
          </a:p>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not activity alone</a:t>
            </a:r>
          </a:p>
        </p:txBody>
      </p:sp>
      <p:sp>
        <p:nvSpPr>
          <p:cNvPr id="3" name="">
            <a:extLst xmlns:a="http://schemas.openxmlformats.org/drawingml/2006/main">
              <a:ext uri="{FF2B5EF4-FFF2-40B4-BE49-F238E27FC236}">
                <a16:creationId xmlns:a16="http://schemas.microsoft.com/office/drawing/2014/main" id="{C0675F18-E98B-4831-B8C7-4B84E16A48F8}"/>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7ECE512-3956-4758-8105-E179127ACCBE}"/>
              </a:ext>
            </a:extLst>
          </p:cNvPr>
          <p:cNvSpPr>
            <a:spLocks xmlns:a="http://schemas.openxmlformats.org/drawingml/2006/main" noGrp="1"/>
          </p:cNvSpPr>
          <p:nvPr/>
        </p:nvSpPr>
        <p:spPr>
          <a:xfrm xmlns:a="http://schemas.openxmlformats.org/drawingml/2006/main">
            <a:off x="6096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Titash Sinha  /  Independent, AI-assisted work sample  /  6 October 2026</a:t>
            </a:r>
          </a:p>
        </p:txBody>
      </p:sp>
      <p:sp>
        <p:nvSpPr>
          <p:cNvPr id="5" name="">
            <a:extLst xmlns:a="http://schemas.openxmlformats.org/drawingml/2006/main">
              <a:ext uri="{FF2B5EF4-FFF2-40B4-BE49-F238E27FC236}">
                <a16:creationId xmlns:a16="http://schemas.microsoft.com/office/drawing/2014/main" id="{F1FEF08A-8A66-4173-83E9-22C8829560C8}"/>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3F2587CB-69DA-446E-9873-95EBDD59F00D}"/>
              </a:ext>
            </a:extLst>
          </p:cNvPr>
          <p:cNvSpPr>
            <a:spLocks xmlns:a="http://schemas.openxmlformats.org/drawingml/2006/main" noGrp="1"/>
          </p:cNvSpPr>
          <p:nvPr/>
        </p:nvSpPr>
        <p:spPr>
          <a:xfrm xmlns:a="http://schemas.openxmlformats.org/drawingml/2006/main">
            <a:off x="609600" y="20955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2A"/>
                </a:solidFill>
                <a:latin typeface="Arial"/>
                <a:ea typeface="Arial"/>
                <a:cs typeface="Arial"/>
              </a:defRPr>
            </a:pPr>
            <a:r>
              <a:rPr sz="1875" b="1">
                <a:solidFill>
                  <a:srgbClr val="202D2A"/>
                </a:solidFill>
                <a:latin typeface="Arial"/>
                <a:ea typeface="Arial"/>
                <a:cs typeface="Arial"/>
              </a:rPr>
              <a:t>Awareness</a:t>
            </a:r>
          </a:p>
        </p:txBody>
      </p:sp>
      <p:sp>
        <p:nvSpPr>
          <p:cNvPr id="7" name="">
            <a:extLst xmlns:a="http://schemas.openxmlformats.org/drawingml/2006/main">
              <a:ext uri="{FF2B5EF4-FFF2-40B4-BE49-F238E27FC236}">
                <a16:creationId xmlns:a16="http://schemas.microsoft.com/office/drawing/2014/main" id="{3EF8D7DB-F347-4E6B-996F-F839C916EBCA}"/>
              </a:ext>
            </a:extLst>
          </p:cNvPr>
          <p:cNvSpPr>
            <a:spLocks xmlns:a="http://schemas.openxmlformats.org/drawingml/2006/main" noGrp="1"/>
          </p:cNvSpPr>
          <p:nvPr/>
        </p:nvSpPr>
        <p:spPr>
          <a:xfrm xmlns:a="http://schemas.openxmlformats.org/drawingml/2006/main">
            <a:off x="3209925" y="2095500"/>
            <a:ext cx="836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D2A"/>
                </a:solidFill>
                <a:latin typeface="Arial"/>
                <a:ea typeface="Arial"/>
                <a:cs typeface="Arial"/>
              </a:defRPr>
            </a:pPr>
            <a:r>
              <a:rPr sz="1875" b="0">
                <a:solidFill>
                  <a:srgbClr val="202D2A"/>
                </a:solidFill>
                <a:latin typeface="Arial"/>
                <a:ea typeface="Arial"/>
                <a:cs typeface="Arial"/>
              </a:rPr>
              <a:t>Fixed query/prompt observations, not market share</a:t>
            </a:r>
          </a:p>
        </p:txBody>
      </p:sp>
      <p:sp>
        <p:nvSpPr>
          <p:cNvPr id="8" name="">
            <a:extLst xmlns:a="http://schemas.openxmlformats.org/drawingml/2006/main">
              <a:ext uri="{FF2B5EF4-FFF2-40B4-BE49-F238E27FC236}">
                <a16:creationId xmlns:a16="http://schemas.microsoft.com/office/drawing/2014/main" id="{8CC3CA5A-16EB-43FB-B4B2-BD5DF89CA0F5}"/>
              </a:ext>
            </a:extLst>
          </p:cNvPr>
          <p:cNvSpPr>
            <a:spLocks xmlns:a="http://schemas.openxmlformats.org/drawingml/2006/main" noGrp="1"/>
          </p:cNvSpPr>
          <p:nvPr/>
        </p:nvSpPr>
        <p:spPr>
          <a:xfrm xmlns:a="http://schemas.openxmlformats.org/drawingml/2006/main">
            <a:off x="609600" y="26670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2A"/>
                </a:solidFill>
                <a:latin typeface="Arial"/>
                <a:ea typeface="Arial"/>
                <a:cs typeface="Arial"/>
              </a:defRPr>
            </a:pPr>
            <a:r>
              <a:rPr sz="1875" b="1">
                <a:solidFill>
                  <a:srgbClr val="202D2A"/>
                </a:solidFill>
                <a:latin typeface="Arial"/>
                <a:ea typeface="Arial"/>
                <a:cs typeface="Arial"/>
              </a:rPr>
              <a:t>Acquisition</a:t>
            </a:r>
          </a:p>
        </p:txBody>
      </p:sp>
      <p:sp>
        <p:nvSpPr>
          <p:cNvPr id="9" name="">
            <a:extLst xmlns:a="http://schemas.openxmlformats.org/drawingml/2006/main">
              <a:ext uri="{FF2B5EF4-FFF2-40B4-BE49-F238E27FC236}">
                <a16:creationId xmlns:a16="http://schemas.microsoft.com/office/drawing/2014/main" id="{0EBDDC89-353E-408A-8DB0-6AC782E933F0}"/>
              </a:ext>
            </a:extLst>
          </p:cNvPr>
          <p:cNvSpPr>
            <a:spLocks xmlns:a="http://schemas.openxmlformats.org/drawingml/2006/main" noGrp="1"/>
          </p:cNvSpPr>
          <p:nvPr/>
        </p:nvSpPr>
        <p:spPr>
          <a:xfrm xmlns:a="http://schemas.openxmlformats.org/drawingml/2006/main">
            <a:off x="3209925" y="2667000"/>
            <a:ext cx="836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D2A"/>
                </a:solidFill>
                <a:latin typeface="Arial"/>
                <a:ea typeface="Arial"/>
                <a:cs typeface="Arial"/>
              </a:defRPr>
            </a:pPr>
            <a:r>
              <a:rPr sz="1875" b="0">
                <a:solidFill>
                  <a:srgbClr val="202D2A"/>
                </a:solidFill>
                <a:latin typeface="Arial"/>
                <a:ea typeface="Arial"/>
                <a:cs typeface="Arial"/>
              </a:rPr>
              <a:t>Eligible route sessions and explicit evaluation actions</a:t>
            </a:r>
          </a:p>
        </p:txBody>
      </p:sp>
      <p:sp>
        <p:nvSpPr>
          <p:cNvPr id="10" name="">
            <a:extLst xmlns:a="http://schemas.openxmlformats.org/drawingml/2006/main">
              <a:ext uri="{FF2B5EF4-FFF2-40B4-BE49-F238E27FC236}">
                <a16:creationId xmlns:a16="http://schemas.microsoft.com/office/drawing/2014/main" id="{7F74ADD9-D8B5-4D5E-845B-8136606BE2B9}"/>
              </a:ext>
            </a:extLst>
          </p:cNvPr>
          <p:cNvSpPr>
            <a:spLocks xmlns:a="http://schemas.openxmlformats.org/drawingml/2006/main" noGrp="1"/>
          </p:cNvSpPr>
          <p:nvPr/>
        </p:nvSpPr>
        <p:spPr>
          <a:xfrm xmlns:a="http://schemas.openxmlformats.org/drawingml/2006/main">
            <a:off x="609600" y="32385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2A"/>
                </a:solidFill>
                <a:latin typeface="Arial"/>
                <a:ea typeface="Arial"/>
                <a:cs typeface="Arial"/>
              </a:defRPr>
            </a:pPr>
            <a:r>
              <a:rPr sz="1875" b="1">
                <a:solidFill>
                  <a:srgbClr val="202D2A"/>
                </a:solidFill>
                <a:latin typeface="Arial"/>
                <a:ea typeface="Arial"/>
                <a:cs typeface="Arial"/>
              </a:rPr>
              <a:t>Activation</a:t>
            </a:r>
          </a:p>
        </p:txBody>
      </p:sp>
      <p:sp>
        <p:nvSpPr>
          <p:cNvPr id="11" name="">
            <a:extLst xmlns:a="http://schemas.openxmlformats.org/drawingml/2006/main">
              <a:ext uri="{FF2B5EF4-FFF2-40B4-BE49-F238E27FC236}">
                <a16:creationId xmlns:a16="http://schemas.microsoft.com/office/drawing/2014/main" id="{ACC6E15B-9004-4EEA-B6CE-9043EF35E0DA}"/>
              </a:ext>
            </a:extLst>
          </p:cNvPr>
          <p:cNvSpPr>
            <a:spLocks xmlns:a="http://schemas.openxmlformats.org/drawingml/2006/main" noGrp="1"/>
          </p:cNvSpPr>
          <p:nvPr/>
        </p:nvSpPr>
        <p:spPr>
          <a:xfrm xmlns:a="http://schemas.openxmlformats.org/drawingml/2006/main">
            <a:off x="3209925" y="3238500"/>
            <a:ext cx="836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D2A"/>
                </a:solidFill>
                <a:latin typeface="Arial"/>
                <a:ea typeface="Arial"/>
                <a:cs typeface="Arial"/>
              </a:defRPr>
            </a:pPr>
            <a:r>
              <a:rPr sz="1875" b="0">
                <a:solidFill>
                  <a:srgbClr val="202D2A"/>
                </a:solidFill>
                <a:latin typeface="Arial"/>
                <a:ea typeface="Arial"/>
                <a:cs typeface="Arial"/>
              </a:rPr>
              <a:t>User-confirmed useful delivery</a:t>
            </a:r>
          </a:p>
        </p:txBody>
      </p:sp>
      <p:sp>
        <p:nvSpPr>
          <p:cNvPr id="12" name="">
            <a:extLst xmlns:a="http://schemas.openxmlformats.org/drawingml/2006/main">
              <a:ext uri="{FF2B5EF4-FFF2-40B4-BE49-F238E27FC236}">
                <a16:creationId xmlns:a16="http://schemas.microsoft.com/office/drawing/2014/main" id="{ADBD7C19-4AA8-4D40-B2E9-48860487A1AC}"/>
              </a:ext>
            </a:extLst>
          </p:cNvPr>
          <p:cNvSpPr>
            <a:spLocks xmlns:a="http://schemas.openxmlformats.org/drawingml/2006/main" noGrp="1"/>
          </p:cNvSpPr>
          <p:nvPr/>
        </p:nvSpPr>
        <p:spPr>
          <a:xfrm xmlns:a="http://schemas.openxmlformats.org/drawingml/2006/main">
            <a:off x="609600" y="38100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2A"/>
                </a:solidFill>
                <a:latin typeface="Arial"/>
                <a:ea typeface="Arial"/>
                <a:cs typeface="Arial"/>
              </a:defRPr>
            </a:pPr>
            <a:r>
              <a:rPr sz="1875" b="1">
                <a:solidFill>
                  <a:srgbClr val="202D2A"/>
                </a:solidFill>
                <a:latin typeface="Arial"/>
                <a:ea typeface="Arial"/>
                <a:cs typeface="Arial"/>
              </a:rPr>
              <a:t>Retention</a:t>
            </a:r>
          </a:p>
        </p:txBody>
      </p:sp>
      <p:sp>
        <p:nvSpPr>
          <p:cNvPr id="13" name="">
            <a:extLst xmlns:a="http://schemas.openxmlformats.org/drawingml/2006/main">
              <a:ext uri="{FF2B5EF4-FFF2-40B4-BE49-F238E27FC236}">
                <a16:creationId xmlns:a16="http://schemas.microsoft.com/office/drawing/2014/main" id="{30DAA9DB-BE4B-488C-B419-D7548C65D1F0}"/>
              </a:ext>
            </a:extLst>
          </p:cNvPr>
          <p:cNvSpPr>
            <a:spLocks xmlns:a="http://schemas.openxmlformats.org/drawingml/2006/main" noGrp="1"/>
          </p:cNvSpPr>
          <p:nvPr/>
        </p:nvSpPr>
        <p:spPr>
          <a:xfrm xmlns:a="http://schemas.openxmlformats.org/drawingml/2006/main">
            <a:off x="3209925" y="3810000"/>
            <a:ext cx="836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D2A"/>
                </a:solidFill>
                <a:latin typeface="Arial"/>
                <a:ea typeface="Arial"/>
                <a:cs typeface="Arial"/>
              </a:defRPr>
            </a:pPr>
            <a:r>
              <a:rPr sz="1875" b="0">
                <a:solidFill>
                  <a:srgbClr val="202D2A"/>
                </a:solidFill>
                <a:latin typeface="Arial"/>
                <a:ea typeface="Arial"/>
                <a:cs typeface="Arial"/>
              </a:rPr>
              <a:t>Another distinct job; cadence still unknown</a:t>
            </a:r>
          </a:p>
        </p:txBody>
      </p:sp>
      <p:sp>
        <p:nvSpPr>
          <p:cNvPr id="14" name="">
            <a:extLst xmlns:a="http://schemas.openxmlformats.org/drawingml/2006/main">
              <a:ext uri="{FF2B5EF4-FFF2-40B4-BE49-F238E27FC236}">
                <a16:creationId xmlns:a16="http://schemas.microsoft.com/office/drawing/2014/main" id="{A75FB449-F243-4BCC-A98A-235C381F3A3F}"/>
              </a:ext>
            </a:extLst>
          </p:cNvPr>
          <p:cNvSpPr>
            <a:spLocks xmlns:a="http://schemas.openxmlformats.org/drawingml/2006/main" noGrp="1"/>
          </p:cNvSpPr>
          <p:nvPr/>
        </p:nvSpPr>
        <p:spPr>
          <a:xfrm xmlns:a="http://schemas.openxmlformats.org/drawingml/2006/main">
            <a:off x="609600" y="43815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2A"/>
                </a:solidFill>
                <a:latin typeface="Arial"/>
                <a:ea typeface="Arial"/>
                <a:cs typeface="Arial"/>
              </a:defRPr>
            </a:pPr>
            <a:r>
              <a:rPr sz="1875" b="1">
                <a:solidFill>
                  <a:srgbClr val="202D2A"/>
                </a:solidFill>
                <a:latin typeface="Arial"/>
                <a:ea typeface="Arial"/>
                <a:cs typeface="Arial"/>
              </a:rPr>
              <a:t>Revenue</a:t>
            </a:r>
          </a:p>
        </p:txBody>
      </p:sp>
      <p:sp>
        <p:nvSpPr>
          <p:cNvPr id="15" name="">
            <a:extLst xmlns:a="http://schemas.openxmlformats.org/drawingml/2006/main">
              <a:ext uri="{FF2B5EF4-FFF2-40B4-BE49-F238E27FC236}">
                <a16:creationId xmlns:a16="http://schemas.microsoft.com/office/drawing/2014/main" id="{F7DA441D-9C28-47EE-8D44-40F65BD28BCB}"/>
              </a:ext>
            </a:extLst>
          </p:cNvPr>
          <p:cNvSpPr>
            <a:spLocks xmlns:a="http://schemas.openxmlformats.org/drawingml/2006/main" noGrp="1"/>
          </p:cNvSpPr>
          <p:nvPr/>
        </p:nvSpPr>
        <p:spPr>
          <a:xfrm xmlns:a="http://schemas.openxmlformats.org/drawingml/2006/main">
            <a:off x="3209925" y="4381500"/>
            <a:ext cx="836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D2A"/>
                </a:solidFill>
                <a:latin typeface="Arial"/>
                <a:ea typeface="Arial"/>
                <a:cs typeface="Arial"/>
              </a:defRPr>
            </a:pPr>
            <a:r>
              <a:rPr sz="1875" b="0">
                <a:solidFill>
                  <a:srgbClr val="202D2A"/>
                </a:solidFill>
                <a:latin typeface="Arial"/>
                <a:ea typeface="Arial"/>
                <a:cs typeface="Arial"/>
              </a:rPr>
              <a:t>Settled paid access; refunds and net revenue separate</a:t>
            </a:r>
          </a:p>
        </p:txBody>
      </p:sp>
      <p:sp>
        <p:nvSpPr>
          <p:cNvPr id="16" name="">
            <a:extLst xmlns:a="http://schemas.openxmlformats.org/drawingml/2006/main">
              <a:ext uri="{FF2B5EF4-FFF2-40B4-BE49-F238E27FC236}">
                <a16:creationId xmlns:a16="http://schemas.microsoft.com/office/drawing/2014/main" id="{139ACD6E-C757-4D14-9643-38F5022C87AE}"/>
              </a:ext>
            </a:extLst>
          </p:cNvPr>
          <p:cNvSpPr>
            <a:spLocks xmlns:a="http://schemas.openxmlformats.org/drawingml/2006/main" noGrp="1"/>
          </p:cNvSpPr>
          <p:nvPr/>
        </p:nvSpPr>
        <p:spPr>
          <a:xfrm xmlns:a="http://schemas.openxmlformats.org/drawingml/2006/main">
            <a:off x="609600" y="495300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02D2A"/>
                </a:solidFill>
                <a:latin typeface="Arial"/>
                <a:ea typeface="Arial"/>
                <a:cs typeface="Arial"/>
              </a:defRPr>
            </a:pPr>
            <a:r>
              <a:rPr sz="1875" b="1">
                <a:solidFill>
                  <a:srgbClr val="202D2A"/>
                </a:solidFill>
                <a:latin typeface="Arial"/>
                <a:ea typeface="Arial"/>
                <a:cs typeface="Arial"/>
              </a:rPr>
              <a:t>Referral</a:t>
            </a:r>
          </a:p>
        </p:txBody>
      </p:sp>
      <p:sp>
        <p:nvSpPr>
          <p:cNvPr id="17" name="">
            <a:extLst xmlns:a="http://schemas.openxmlformats.org/drawingml/2006/main">
              <a:ext uri="{FF2B5EF4-FFF2-40B4-BE49-F238E27FC236}">
                <a16:creationId xmlns:a16="http://schemas.microsoft.com/office/drawing/2014/main" id="{FFFE6831-7BBF-40C2-A906-4374C8C35CD4}"/>
              </a:ext>
            </a:extLst>
          </p:cNvPr>
          <p:cNvSpPr>
            <a:spLocks xmlns:a="http://schemas.openxmlformats.org/drawingml/2006/main" noGrp="1"/>
          </p:cNvSpPr>
          <p:nvPr/>
        </p:nvSpPr>
        <p:spPr>
          <a:xfrm xmlns:a="http://schemas.openxmlformats.org/drawingml/2006/main">
            <a:off x="3209925" y="4953000"/>
            <a:ext cx="8362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02D2A"/>
                </a:solidFill>
                <a:latin typeface="Arial"/>
                <a:ea typeface="Arial"/>
                <a:cs typeface="Arial"/>
              </a:defRPr>
            </a:pPr>
            <a:r>
              <a:rPr sz="1875" b="0">
                <a:solidFill>
                  <a:srgbClr val="202D2A"/>
                </a:solidFill>
                <a:latin typeface="Arial"/>
                <a:ea typeface="Arial"/>
                <a:cs typeface="Arial"/>
              </a:rPr>
              <a:t>Attributable new account reaching useful delivery</a:t>
            </a:r>
          </a:p>
        </p:txBody>
      </p:sp>
      <p:sp>
        <p:nvSpPr>
          <p:cNvPr id="18" name="">
            <a:extLst xmlns:a="http://schemas.openxmlformats.org/drawingml/2006/main">
              <a:ext uri="{FF2B5EF4-FFF2-40B4-BE49-F238E27FC236}">
                <a16:creationId xmlns:a16="http://schemas.microsoft.com/office/drawing/2014/main" id="{A6A67005-3E9A-4EF6-9BDF-06031B90E578}"/>
              </a:ext>
            </a:extLst>
          </p:cNvPr>
          <p:cNvSpPr>
            <a:spLocks xmlns:a="http://schemas.openxmlformats.org/drawingml/2006/main" noGrp="1"/>
          </p:cNvSpPr>
          <p:nvPr/>
        </p:nvSpPr>
        <p:spPr>
          <a:xfrm xmlns:a="http://schemas.openxmlformats.org/drawingml/2006/main">
            <a:off x="609600" y="5743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35C"/>
                </a:solidFill>
                <a:latin typeface="Arial"/>
                <a:ea typeface="Arial"/>
                <a:cs typeface="Arial"/>
              </a:defRPr>
            </a:pPr>
            <a:r>
              <a:rPr sz="1425" b="0">
                <a:solidFill>
                  <a:srgbClr val="56635C"/>
                </a:solidFill>
                <a:latin typeface="Arial"/>
                <a:ea typeface="Arial"/>
                <a:cs typeface="Arial"/>
              </a:rPr>
              <a:t>6 stages / 12 proposed event contracts. No instrumented events, company baseline or growth result.</a:t>
            </a:r>
          </a:p>
        </p:txBody>
      </p:sp>
    </p:spTree>
    <p:extLst>
      <p:ext uri="{BB962C8B-B14F-4D97-AF65-F5344CB8AC3E}">
        <p14:creationId xmlns:p14="http://schemas.microsoft.com/office/powerpoint/2010/main" val="641858114"/>
      </p:ext>
    </p:extLst>
  </p:cSld>
</p:sld>
</file>

<file path=ppt/slides/slide9.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CED8128-23AA-4830-A460-90A6F94FCC93}"/>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D562F"/>
                </a:solidFill>
                <a:latin typeface="Arial"/>
                <a:ea typeface="Arial"/>
                <a:cs typeface="Arial"/>
              </a:defRPr>
            </a:pPr>
            <a:r>
              <a:rPr sz="1350" b="1">
                <a:solidFill>
                  <a:srgbClr val="AD562F"/>
                </a:solidFill>
                <a:latin typeface="Arial"/>
                <a:ea typeface="Arial"/>
                <a:cs typeface="Arial"/>
              </a:rPr>
              <a:t>PRIORITIZED PROSPECTIVE BACKLOG</a:t>
            </a:r>
          </a:p>
        </p:txBody>
      </p:sp>
      <p:sp>
        <p:nvSpPr>
          <p:cNvPr id="2" name="">
            <a:extLst xmlns:a="http://schemas.openxmlformats.org/drawingml/2006/main">
              <a:ext uri="{FF2B5EF4-FFF2-40B4-BE49-F238E27FC236}">
                <a16:creationId xmlns:a16="http://schemas.microsoft.com/office/drawing/2014/main" id="{DCF12B44-AB23-4D36-BBF7-3501CAF49BF2}"/>
              </a:ext>
            </a:extLst>
          </p:cNvPr>
          <p:cNvSpPr>
            <a:spLocks xmlns:a="http://schemas.openxmlformats.org/drawingml/2006/main" noGrp="1"/>
          </p:cNvSpPr>
          <p:nvPr/>
        </p:nvSpPr>
        <p:spPr>
          <a:xfrm xmlns:a="http://schemas.openxmlformats.org/drawingml/2006/main">
            <a:off x="609600" y="838200"/>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Test comprehension first.</a:t>
            </a:r>
          </a:p>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Product proof and commercial impact come later.</a:t>
            </a:r>
          </a:p>
        </p:txBody>
      </p:sp>
      <p:sp>
        <p:nvSpPr>
          <p:cNvPr id="3" name="">
            <a:extLst xmlns:a="http://schemas.openxmlformats.org/drawingml/2006/main">
              <a:ext uri="{FF2B5EF4-FFF2-40B4-BE49-F238E27FC236}">
                <a16:creationId xmlns:a16="http://schemas.microsoft.com/office/drawing/2014/main" id="{2E4A223A-B7FC-4295-871B-64CD06EA048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F47159-6950-40FA-8CE9-7D01E36462A1}"/>
              </a:ext>
            </a:extLst>
          </p:cNvPr>
          <p:cNvSpPr>
            <a:spLocks xmlns:a="http://schemas.openxmlformats.org/drawingml/2006/main" noGrp="1"/>
          </p:cNvSpPr>
          <p:nvPr/>
        </p:nvSpPr>
        <p:spPr>
          <a:xfrm xmlns:a="http://schemas.openxmlformats.org/drawingml/2006/main">
            <a:off x="6096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Titash Sinha  /  Independent, AI-assisted work sample  /  6 October 2026</a:t>
            </a:r>
          </a:p>
        </p:txBody>
      </p:sp>
      <p:sp>
        <p:nvSpPr>
          <p:cNvPr id="5" name="">
            <a:extLst xmlns:a="http://schemas.openxmlformats.org/drawingml/2006/main">
              <a:ext uri="{FF2B5EF4-FFF2-40B4-BE49-F238E27FC236}">
                <a16:creationId xmlns:a16="http://schemas.microsoft.com/office/drawing/2014/main" id="{AD1D2029-F50E-4AFB-850B-8543A997EDAA}"/>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EC82641B-1B6F-4F86-B9C5-5FB1F8E9FEC8}"/>
              </a:ext>
            </a:extLst>
          </p:cNvPr>
          <p:cNvSpPr>
            <a:spLocks xmlns:a="http://schemas.openxmlformats.org/drawingml/2006/main" noGrp="1"/>
          </p:cNvSpPr>
          <p:nvPr/>
        </p:nvSpPr>
        <p:spPr>
          <a:xfrm xmlns:a="http://schemas.openxmlformats.org/drawingml/2006/main">
            <a:off x="609600" y="21717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D2A"/>
                </a:solidFill>
                <a:latin typeface="Arial"/>
                <a:ea typeface="Arial"/>
                <a:cs typeface="Arial"/>
              </a:defRPr>
            </a:pPr>
            <a:r>
              <a:rPr sz="2175" b="1">
                <a:solidFill>
                  <a:srgbClr val="202D2A"/>
                </a:solidFill>
                <a:latin typeface="Arial"/>
                <a:ea typeface="Arial"/>
                <a:cs typeface="Arial"/>
              </a:rPr>
              <a:t>EX02  Page comprehension</a:t>
            </a:r>
          </a:p>
        </p:txBody>
      </p:sp>
      <p:sp>
        <p:nvSpPr>
          <p:cNvPr id="7" name="">
            <a:extLst xmlns:a="http://schemas.openxmlformats.org/drawingml/2006/main">
              <a:ext uri="{FF2B5EF4-FFF2-40B4-BE49-F238E27FC236}">
                <a16:creationId xmlns:a16="http://schemas.microsoft.com/office/drawing/2014/main" id="{06DD44DF-161B-41B3-8F96-8A35CCCF40CB}"/>
              </a:ext>
            </a:extLst>
          </p:cNvPr>
          <p:cNvSpPr>
            <a:spLocks xmlns:a="http://schemas.openxmlformats.org/drawingml/2006/main" noGrp="1"/>
          </p:cNvSpPr>
          <p:nvPr/>
        </p:nvSpPr>
        <p:spPr>
          <a:xfrm xmlns:a="http://schemas.openxmlformats.org/drawingml/2006/main">
            <a:off x="609600" y="2619375"/>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Can readers identify the task, proof and next action?</a:t>
            </a:r>
          </a:p>
        </p:txBody>
      </p:sp>
      <p:sp>
        <p:nvSpPr>
          <p:cNvPr id="8" name="">
            <a:extLst xmlns:a="http://schemas.openxmlformats.org/drawingml/2006/main">
              <a:ext uri="{FF2B5EF4-FFF2-40B4-BE49-F238E27FC236}">
                <a16:creationId xmlns:a16="http://schemas.microsoft.com/office/drawing/2014/main" id="{702A7F41-26F0-45F6-B79A-DD6403FF469D}"/>
              </a:ext>
            </a:extLst>
          </p:cNvPr>
          <p:cNvSpPr>
            <a:spLocks xmlns:a="http://schemas.openxmlformats.org/drawingml/2006/main" noGrp="1"/>
          </p:cNvSpPr>
          <p:nvPr/>
        </p:nvSpPr>
        <p:spPr>
          <a:xfrm xmlns:a="http://schemas.openxmlformats.org/drawingml/2006/main">
            <a:off x="609600" y="32194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D2A"/>
                </a:solidFill>
                <a:latin typeface="Arial"/>
                <a:ea typeface="Arial"/>
                <a:cs typeface="Arial"/>
              </a:defRPr>
            </a:pPr>
            <a:r>
              <a:rPr sz="2175" b="1">
                <a:solidFill>
                  <a:srgbClr val="202D2A"/>
                </a:solidFill>
                <a:latin typeface="Arial"/>
                <a:ea typeface="Arial"/>
                <a:cs typeface="Arial"/>
              </a:rPr>
              <a:t>EX03  Offer comprehension</a:t>
            </a:r>
          </a:p>
        </p:txBody>
      </p:sp>
      <p:sp>
        <p:nvSpPr>
          <p:cNvPr id="9" name="">
            <a:extLst xmlns:a="http://schemas.openxmlformats.org/drawingml/2006/main">
              <a:ext uri="{FF2B5EF4-FFF2-40B4-BE49-F238E27FC236}">
                <a16:creationId xmlns:a16="http://schemas.microsoft.com/office/drawing/2014/main" id="{CB7FD2E2-4C44-4459-860B-4BBDD1237B6A}"/>
              </a:ext>
            </a:extLst>
          </p:cNvPr>
          <p:cNvSpPr>
            <a:spLocks xmlns:a="http://schemas.openxmlformats.org/drawingml/2006/main" noGrp="1"/>
          </p:cNvSpPr>
          <p:nvPr/>
        </p:nvSpPr>
        <p:spPr>
          <a:xfrm xmlns:a="http://schemas.openxmlformats.org/drawingml/2006/main">
            <a:off x="609600" y="3667125"/>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Only after company-confirmed terms and relevant confusion.</a:t>
            </a:r>
          </a:p>
        </p:txBody>
      </p:sp>
      <p:sp>
        <p:nvSpPr>
          <p:cNvPr id="10" name="">
            <a:extLst xmlns:a="http://schemas.openxmlformats.org/drawingml/2006/main">
              <a:ext uri="{FF2B5EF4-FFF2-40B4-BE49-F238E27FC236}">
                <a16:creationId xmlns:a16="http://schemas.microsoft.com/office/drawing/2014/main" id="{21ACD60C-0C57-41F2-BD88-2F259052B06A}"/>
              </a:ext>
            </a:extLst>
          </p:cNvPr>
          <p:cNvSpPr>
            <a:spLocks xmlns:a="http://schemas.openxmlformats.org/drawingml/2006/main" noGrp="1"/>
          </p:cNvSpPr>
          <p:nvPr/>
        </p:nvSpPr>
        <p:spPr>
          <a:xfrm xmlns:a="http://schemas.openxmlformats.org/drawingml/2006/main">
            <a:off x="609600" y="4267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02D2A"/>
                </a:solidFill>
                <a:latin typeface="Arial"/>
                <a:ea typeface="Arial"/>
                <a:cs typeface="Arial"/>
              </a:defRPr>
            </a:pPr>
            <a:r>
              <a:rPr sz="2175" b="1">
                <a:solidFill>
                  <a:srgbClr val="202D2A"/>
                </a:solidFill>
                <a:latin typeface="Arial"/>
                <a:ea typeface="Arial"/>
                <a:cs typeface="Arial"/>
              </a:rPr>
              <a:t>EX04  Genuine correction comparison</a:t>
            </a:r>
          </a:p>
        </p:txBody>
      </p:sp>
      <p:sp>
        <p:nvSpPr>
          <p:cNvPr id="11" name="">
            <a:extLst xmlns:a="http://schemas.openxmlformats.org/drawingml/2006/main">
              <a:ext uri="{FF2B5EF4-FFF2-40B4-BE49-F238E27FC236}">
                <a16:creationId xmlns:a16="http://schemas.microsoft.com/office/drawing/2014/main" id="{3137006E-714E-49D7-AF9C-160283448807}"/>
              </a:ext>
            </a:extLst>
          </p:cNvPr>
          <p:cNvSpPr>
            <a:spLocks xmlns:a="http://schemas.openxmlformats.org/drawingml/2006/main" noGrp="1"/>
          </p:cNvSpPr>
          <p:nvPr/>
        </p:nvSpPr>
        <p:spPr>
          <a:xfrm xmlns:a="http://schemas.openxmlformats.org/drawingml/2006/main">
            <a:off x="609600" y="4714875"/>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Same inputs; record all work, failures and access constraints.</a:t>
            </a:r>
          </a:p>
        </p:txBody>
      </p:sp>
      <p:sp>
        <p:nvSpPr>
          <p:cNvPr id="12" name="">
            <a:extLst xmlns:a="http://schemas.openxmlformats.org/drawingml/2006/main">
              <a:ext uri="{FF2B5EF4-FFF2-40B4-BE49-F238E27FC236}">
                <a16:creationId xmlns:a16="http://schemas.microsoft.com/office/drawing/2014/main" id="{D75A6DCF-FE41-4F8A-83C0-0B7A53608D8D}"/>
              </a:ext>
            </a:extLst>
          </p:cNvPr>
          <p:cNvSpPr>
            <a:spLocks xmlns:a="http://schemas.openxmlformats.org/drawingml/2006/main" noGrp="1"/>
          </p:cNvSpPr>
          <p:nvPr/>
        </p:nvSpPr>
        <p:spPr>
          <a:xfrm xmlns:a="http://schemas.openxmlformats.org/drawingml/2006/main">
            <a:off x="609600" y="5743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35C"/>
                </a:solidFill>
                <a:latin typeface="Arial"/>
                <a:ea typeface="Arial"/>
                <a:cs typeface="Arial"/>
              </a:defRPr>
            </a:pPr>
            <a:r>
              <a:rPr sz="1425" b="0">
                <a:solidFill>
                  <a:srgbClr val="56635C"/>
                </a:solidFill>
                <a:latin typeface="Arial"/>
                <a:ea typeface="Arial"/>
                <a:cs typeface="Arial"/>
              </a:rPr>
              <a:t>Then EX05 article usefulness and EX06 company-route testing. Proposed; no result or uplift forecast.</a:t>
            </a:r>
          </a:p>
        </p:txBody>
      </p:sp>
    </p:spTree>
    <p:extLst>
      <p:ext uri="{BB962C8B-B14F-4D97-AF65-F5344CB8AC3E}">
        <p14:creationId xmlns:p14="http://schemas.microsoft.com/office/powerpoint/2010/main" val="357464387"/>
      </p:ext>
    </p:extLst>
  </p:cSld>
</p:sld>
</file>

<file path=ppt/slides/slide10.xml><?xml version="1.0" encoding="utf-8"?>
<p:sld xmlns:p="http://schemas.openxmlformats.org/presentationml/2006/main">
  <p:cSld>
    <p:bg>
      <p:bgPr>
        <a:solidFill xmlns:a="http://schemas.openxmlformats.org/drawingml/2006/main">
          <a:srgbClr val="F4F1E9"/>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E3DE50D-6B8C-4283-9230-A4EA368BD354}"/>
              </a:ext>
            </a:extLst>
          </p:cNvPr>
          <p:cNvSpPr>
            <a:spLocks xmlns:a="http://schemas.openxmlformats.org/drawingml/2006/main" noGrp="1"/>
          </p:cNvSpPr>
          <p:nvPr/>
        </p:nvSpPr>
        <p:spPr>
          <a:xfrm xmlns:a="http://schemas.openxmlformats.org/drawingml/2006/main">
            <a:off x="609600" y="3238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AD562F"/>
                </a:solidFill>
                <a:latin typeface="Arial"/>
                <a:ea typeface="Arial"/>
                <a:cs typeface="Arial"/>
              </a:defRPr>
            </a:pPr>
            <a:r>
              <a:rPr sz="1350" b="1">
                <a:solidFill>
                  <a:srgbClr val="AD562F"/>
                </a:solidFill>
                <a:latin typeface="Arial"/>
                <a:ea typeface="Arial"/>
                <a:cs typeface="Arial"/>
              </a:rPr>
              <a:t>HANDOFF</a:t>
            </a:r>
          </a:p>
        </p:txBody>
      </p:sp>
      <p:sp>
        <p:nvSpPr>
          <p:cNvPr id="2" name="">
            <a:extLst xmlns:a="http://schemas.openxmlformats.org/drawingml/2006/main">
              <a:ext uri="{FF2B5EF4-FFF2-40B4-BE49-F238E27FC236}">
                <a16:creationId xmlns:a16="http://schemas.microsoft.com/office/drawing/2014/main" id="{DB7E23E3-4250-43D4-AD46-DDC48A1D9D9A}"/>
              </a:ext>
            </a:extLst>
          </p:cNvPr>
          <p:cNvSpPr>
            <a:spLocks xmlns:a="http://schemas.openxmlformats.org/drawingml/2006/main" noGrp="1"/>
          </p:cNvSpPr>
          <p:nvPr/>
        </p:nvSpPr>
        <p:spPr>
          <a:xfrm xmlns:a="http://schemas.openxmlformats.org/drawingml/2006/main">
            <a:off x="609600" y="838200"/>
            <a:ext cx="10953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A reviewable contribution,</a:t>
            </a:r>
          </a:p>
          <a:p xmlns:a="http://schemas.openxmlformats.org/drawingml/2006/main">
            <a:pPr>
              <a:defRPr sz="3300" b="1">
                <a:solidFill>
                  <a:srgbClr val="202D2A"/>
                </a:solidFill>
                <a:latin typeface="Arial"/>
                <a:ea typeface="Arial"/>
                <a:cs typeface="Arial"/>
              </a:defRPr>
            </a:pPr>
            <a:r>
              <a:rPr sz="3300" b="1">
                <a:solidFill>
                  <a:srgbClr val="202D2A"/>
                </a:solidFill>
                <a:latin typeface="Arial"/>
                <a:ea typeface="Arial"/>
                <a:cs typeface="Arial"/>
              </a:rPr>
              <a:t>with clear ownership and limits</a:t>
            </a:r>
          </a:p>
        </p:txBody>
      </p:sp>
      <p:sp>
        <p:nvSpPr>
          <p:cNvPr id="3" name="">
            <a:extLst xmlns:a="http://schemas.openxmlformats.org/drawingml/2006/main">
              <a:ext uri="{FF2B5EF4-FFF2-40B4-BE49-F238E27FC236}">
                <a16:creationId xmlns:a16="http://schemas.microsoft.com/office/drawing/2014/main" id="{111E5DD6-F644-4B81-98AA-F2DCED76F44A}"/>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5D8C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E61C5C-2CAA-4FAD-B042-D3D80E6CD928}"/>
              </a:ext>
            </a:extLst>
          </p:cNvPr>
          <p:cNvSpPr>
            <a:spLocks xmlns:a="http://schemas.openxmlformats.org/drawingml/2006/main" noGrp="1"/>
          </p:cNvSpPr>
          <p:nvPr/>
        </p:nvSpPr>
        <p:spPr>
          <a:xfrm xmlns:a="http://schemas.openxmlformats.org/drawingml/2006/main">
            <a:off x="609600" y="64103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Titash Sinha  /  Independent, AI-assisted work sample  /  6 October 2026</a:t>
            </a:r>
          </a:p>
        </p:txBody>
      </p:sp>
      <p:sp>
        <p:nvSpPr>
          <p:cNvPr id="5" name="">
            <a:extLst xmlns:a="http://schemas.openxmlformats.org/drawingml/2006/main">
              <a:ext uri="{FF2B5EF4-FFF2-40B4-BE49-F238E27FC236}">
                <a16:creationId xmlns:a16="http://schemas.microsoft.com/office/drawing/2014/main" id="{D9CDD35A-8920-40E0-8BEA-EE4C8413A161}"/>
              </a:ext>
            </a:extLst>
          </p:cNvPr>
          <p:cNvSpPr>
            <a:spLocks xmlns:a="http://schemas.openxmlformats.org/drawingml/2006/main" noGrp="1"/>
          </p:cNvSpPr>
          <p:nvPr/>
        </p:nvSpPr>
        <p:spPr>
          <a:xfrm xmlns:a="http://schemas.openxmlformats.org/drawingml/2006/main">
            <a:off x="110490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35C"/>
                </a:solidFill>
                <a:latin typeface="Arial"/>
                <a:ea typeface="Arial"/>
                <a:cs typeface="Arial"/>
              </a:defRPr>
            </a:pPr>
            <a:r>
              <a:rPr sz="1200" b="0">
                <a:solidFill>
                  <a:srgbClr val="56635C"/>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E452FE6C-37B4-4BC6-B9D5-FAAB3F5CF1D6}"/>
              </a:ext>
            </a:extLst>
          </p:cNvPr>
          <p:cNvSpPr>
            <a:spLocks xmlns:a="http://schemas.openxmlformats.org/drawingml/2006/main" noGrp="1"/>
          </p:cNvSpPr>
          <p:nvPr/>
        </p:nvSpPr>
        <p:spPr>
          <a:xfrm xmlns:a="http://schemas.openxmlformats.org/drawingml/2006/main">
            <a:off x="609600" y="22098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D562F"/>
                </a:solidFill>
                <a:latin typeface="Arial"/>
                <a:ea typeface="Arial"/>
                <a:cs typeface="Arial"/>
              </a:defRPr>
            </a:pPr>
            <a:r>
              <a:rPr sz="1800" b="1">
                <a:solidFill>
                  <a:srgbClr val="AD562F"/>
                </a:solidFill>
                <a:latin typeface="Arial"/>
                <a:ea typeface="Arial"/>
                <a:cs typeface="Arial"/>
              </a:rPr>
              <a:t>TITASH</a:t>
            </a:r>
          </a:p>
        </p:txBody>
      </p:sp>
      <p:sp>
        <p:nvSpPr>
          <p:cNvPr id="7" name="">
            <a:extLst xmlns:a="http://schemas.openxmlformats.org/drawingml/2006/main">
              <a:ext uri="{FF2B5EF4-FFF2-40B4-BE49-F238E27FC236}">
                <a16:creationId xmlns:a16="http://schemas.microsoft.com/office/drawing/2014/main" id="{FD237F44-47F2-4594-AAA2-2A58C6098048}"/>
              </a:ext>
            </a:extLst>
          </p:cNvPr>
          <p:cNvSpPr>
            <a:spLocks xmlns:a="http://schemas.openxmlformats.org/drawingml/2006/main" noGrp="1"/>
          </p:cNvSpPr>
          <p:nvPr/>
        </p:nvSpPr>
        <p:spPr>
          <a:xfrm xmlns:a="http://schemas.openxmlformats.org/drawingml/2006/main">
            <a:off x="609600" y="2714625"/>
            <a:ext cx="5143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Set scope, challenged switching assumptions</a:t>
            </a:r>
          </a:p>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and directed the work-sample decisions.</a:t>
            </a:r>
          </a:p>
        </p:txBody>
      </p:sp>
      <p:sp>
        <p:nvSpPr>
          <p:cNvPr id="8" name="">
            <a:extLst xmlns:a="http://schemas.openxmlformats.org/drawingml/2006/main">
              <a:ext uri="{FF2B5EF4-FFF2-40B4-BE49-F238E27FC236}">
                <a16:creationId xmlns:a16="http://schemas.microsoft.com/office/drawing/2014/main" id="{31A22AC8-E08A-46F3-90F4-05F4C665FD20}"/>
              </a:ext>
            </a:extLst>
          </p:cNvPr>
          <p:cNvSpPr>
            <a:spLocks xmlns:a="http://schemas.openxmlformats.org/drawingml/2006/main" noGrp="1"/>
          </p:cNvSpPr>
          <p:nvPr/>
        </p:nvSpPr>
        <p:spPr>
          <a:xfrm xmlns:a="http://schemas.openxmlformats.org/drawingml/2006/main">
            <a:off x="6381750" y="22098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D562F"/>
                </a:solidFill>
                <a:latin typeface="Arial"/>
                <a:ea typeface="Arial"/>
                <a:cs typeface="Arial"/>
              </a:defRPr>
            </a:pPr>
            <a:r>
              <a:rPr sz="1800" b="1">
                <a:solidFill>
                  <a:srgbClr val="AD562F"/>
                </a:solidFill>
                <a:latin typeface="Arial"/>
                <a:ea typeface="Arial"/>
                <a:cs typeface="Arial"/>
              </a:rPr>
              <a:t>AI ASSISTANCE</a:t>
            </a:r>
          </a:p>
        </p:txBody>
      </p:sp>
      <p:sp>
        <p:nvSpPr>
          <p:cNvPr id="9" name="">
            <a:extLst xmlns:a="http://schemas.openxmlformats.org/drawingml/2006/main">
              <a:ext uri="{FF2B5EF4-FFF2-40B4-BE49-F238E27FC236}">
                <a16:creationId xmlns:a16="http://schemas.microsoft.com/office/drawing/2014/main" id="{4487C9DE-F95A-4A36-A257-26A75473F642}"/>
              </a:ext>
            </a:extLst>
          </p:cNvPr>
          <p:cNvSpPr>
            <a:spLocks xmlns:a="http://schemas.openxmlformats.org/drawingml/2006/main" noGrp="1"/>
          </p:cNvSpPr>
          <p:nvPr/>
        </p:nvSpPr>
        <p:spPr>
          <a:xfrm xmlns:a="http://schemas.openxmlformats.org/drawingml/2006/main">
            <a:off x="6381750" y="2714625"/>
            <a:ext cx="5191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Public research, synthesis, drafting,</a:t>
            </a:r>
          </a:p>
          <a:p xmlns:a="http://schemas.openxmlformats.org/drawingml/2006/main">
            <a:pPr>
              <a:defRPr sz="1950" b="0">
                <a:solidFill>
                  <a:srgbClr val="202D2A"/>
                </a:solidFill>
                <a:latin typeface="Arial"/>
                <a:ea typeface="Arial"/>
                <a:cs typeface="Arial"/>
              </a:defRPr>
            </a:pPr>
            <a:r>
              <a:rPr sz="1950" b="0">
                <a:solidFill>
                  <a:srgbClr val="202D2A"/>
                </a:solidFill>
                <a:latin typeface="Arial"/>
                <a:ea typeface="Arial"/>
                <a:cs typeface="Arial"/>
              </a:rPr>
              <a:t>editorial correction and package checks.</a:t>
            </a:r>
          </a:p>
        </p:txBody>
      </p:sp>
      <p:sp>
        <p:nvSpPr>
          <p:cNvPr id="10" name="">
            <a:extLst xmlns:a="http://schemas.openxmlformats.org/drawingml/2006/main">
              <a:ext uri="{FF2B5EF4-FFF2-40B4-BE49-F238E27FC236}">
                <a16:creationId xmlns:a16="http://schemas.microsoft.com/office/drawing/2014/main" id="{0BFFD386-E95D-4213-8300-36506BDE5262}"/>
              </a:ext>
            </a:extLst>
          </p:cNvPr>
          <p:cNvSpPr>
            <a:spLocks xmlns:a="http://schemas.openxmlformats.org/drawingml/2006/main" noGrp="1"/>
          </p:cNvSpPr>
          <p:nvPr/>
        </p:nvSpPr>
        <p:spPr>
          <a:xfrm xmlns:a="http://schemas.openxmlformats.org/drawingml/2006/main">
            <a:off x="609600" y="4305300"/>
            <a:ext cx="10972800" cy="1076325"/>
          </a:xfrm>
          <a:prstGeom xmlns:a="http://schemas.openxmlformats.org/drawingml/2006/main" prst="rect">
            <a:avLst/>
          </a:prstGeom>
          <a:solidFill xmlns:a="http://schemas.openxmlformats.org/drawingml/2006/main">
            <a:srgbClr val="E4E8D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6738AEA-80FF-413C-A0E9-748D43BFB3C5}"/>
              </a:ext>
            </a:extLst>
          </p:cNvPr>
          <p:cNvSpPr>
            <a:spLocks xmlns:a="http://schemas.openxmlformats.org/drawingml/2006/main" noGrp="1"/>
          </p:cNvSpPr>
          <p:nvPr/>
        </p:nvSpPr>
        <p:spPr>
          <a:xfrm xmlns:a="http://schemas.openxmlformats.org/drawingml/2006/main">
            <a:off x="838200" y="4476750"/>
            <a:ext cx="10458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D2A"/>
                </a:solidFill>
                <a:latin typeface="Arial"/>
                <a:ea typeface="Arial"/>
                <a:cs typeface="Arial"/>
              </a:defRPr>
            </a:pPr>
            <a:r>
              <a:rPr sz="2100" b="1">
                <a:solidFill>
                  <a:srgbClr val="202D2A"/>
                </a:solidFill>
                <a:latin typeface="Arial"/>
                <a:ea typeface="Arial"/>
                <a:cs typeface="Arial"/>
              </a:rPr>
              <a:t>Next business action: authorized founder handoff with usable access</a:t>
            </a:r>
          </a:p>
        </p:txBody>
      </p:sp>
      <p:sp>
        <p:nvSpPr>
          <p:cNvPr id="12" name="">
            <a:extLst xmlns:a="http://schemas.openxmlformats.org/drawingml/2006/main">
              <a:ext uri="{FF2B5EF4-FFF2-40B4-BE49-F238E27FC236}">
                <a16:creationId xmlns:a16="http://schemas.microsoft.com/office/drawing/2014/main" id="{83227B0D-67D7-49E0-B1D1-607E4658E8DD}"/>
              </a:ext>
            </a:extLst>
          </p:cNvPr>
          <p:cNvSpPr>
            <a:spLocks xmlns:a="http://schemas.openxmlformats.org/drawingml/2006/main" noGrp="1"/>
          </p:cNvSpPr>
          <p:nvPr/>
        </p:nvSpPr>
        <p:spPr>
          <a:xfrm xmlns:a="http://schemas.openxmlformats.org/drawingml/2006/main">
            <a:off x="838200" y="4953000"/>
            <a:ext cx="1038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02D2A"/>
                </a:solidFill>
                <a:latin typeface="Arial"/>
                <a:ea typeface="Arial"/>
                <a:cs typeface="Arial"/>
              </a:defRPr>
            </a:pPr>
            <a:r>
              <a:rPr sz="1800" b="0">
                <a:solidFill>
                  <a:srgbClr val="202D2A"/>
                </a:solidFill>
                <a:latin typeface="Arial"/>
                <a:ea typeface="Arial"/>
                <a:cs typeface="Arial"/>
              </a:rPr>
              <a:t>Then company/editor review, confirmed proof and terms, and prioritized testing.</a:t>
            </a:r>
          </a:p>
        </p:txBody>
      </p:sp>
      <p:sp>
        <p:nvSpPr>
          <p:cNvPr id="13" name="">
            <a:extLst xmlns:a="http://schemas.openxmlformats.org/drawingml/2006/main">
              <a:ext uri="{FF2B5EF4-FFF2-40B4-BE49-F238E27FC236}">
                <a16:creationId xmlns:a16="http://schemas.microsoft.com/office/drawing/2014/main" id="{C84901AA-A1EF-4FE4-94F3-D3FEB0A3BCD9}"/>
              </a:ext>
            </a:extLst>
          </p:cNvPr>
          <p:cNvSpPr>
            <a:spLocks xmlns:a="http://schemas.openxmlformats.org/drawingml/2006/main" noGrp="1"/>
          </p:cNvSpPr>
          <p:nvPr/>
        </p:nvSpPr>
        <p:spPr>
          <a:xfrm xmlns:a="http://schemas.openxmlformats.org/drawingml/2006/main">
            <a:off x="609600" y="5743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35C"/>
                </a:solidFill>
                <a:latin typeface="Arial"/>
                <a:ea typeface="Arial"/>
                <a:cs typeface="Arial"/>
              </a:defRPr>
            </a:pPr>
            <a:r>
              <a:rPr sz="1425" b="0">
                <a:solidFill>
                  <a:srgbClr val="56635C"/>
                </a:solidFill>
                <a:latin typeface="Arial"/>
                <a:ea typeface="Arial"/>
                <a:cs typeface="Arial"/>
              </a:rPr>
              <a:t>Pitch is UNSENT. No affiliation, product access, completed validation or company outcome claimed.</a:t>
            </a:r>
          </a:p>
        </p:txBody>
      </p:sp>
    </p:spTree>
    <p:extLst>
      <p:ext uri="{BB962C8B-B14F-4D97-AF65-F5344CB8AC3E}">
        <p14:creationId xmlns:p14="http://schemas.microsoft.com/office/powerpoint/2010/main" val="20343750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2026-10-06T16:11:21.1830000Z</dcterms:created>
  <dcterms:modified xsi:type="dcterms:W3CDTF">2026-10-06T16:11:21.1830000Z</dcterms:modified>
</coreProperties>
</file>
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8d578bd06214383" /><Relationship Type="http://schemas.openxmlformats.org/officeDocument/2006/relationships/extended-properties" Target="/docProps/app.xml" Id="Rb8017abe83a5456d" /><Relationship Type="http://schemas.openxmlformats.org/officeDocument/2006/relationships/officeDocument" Target="/ppt/presentation.xml" Id="R79bdb71dfc12495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ffe46aaa44546f2"/>
  </p:sldMasterIdLst>
  <p:notesMasterIdLst>
    <p:notesMasterId xmlns:r="http://schemas.openxmlformats.org/officeDocument/2006/relationships" r:id="R2b4e2a2005e448e2"/>
  </p:notesMasterIdLst>
  <p:sldIdLst>
    <p:sldId xmlns:r="http://schemas.openxmlformats.org/officeDocument/2006/relationships" id="256" r:id="R805ecfa85e774c51"/>
    <p:sldId xmlns:r="http://schemas.openxmlformats.org/officeDocument/2006/relationships" id="257" r:id="R352786afdb3e4faa"/>
    <p:sldId xmlns:r="http://schemas.openxmlformats.org/officeDocument/2006/relationships" id="258" r:id="Rf6cf4965f236491f"/>
    <p:sldId xmlns:r="http://schemas.openxmlformats.org/officeDocument/2006/relationships" id="259" r:id="Racd3f90e026b44de"/>
    <p:sldId xmlns:r="http://schemas.openxmlformats.org/officeDocument/2006/relationships" id="260" r:id="Rb7d1954b7dc14f46"/>
    <p:sldId xmlns:r="http://schemas.openxmlformats.org/officeDocument/2006/relationships" id="261" r:id="Rd9d3f929a7714af3"/>
    <p:sldId xmlns:r="http://schemas.openxmlformats.org/officeDocument/2006/relationships" id="262" r:id="Rcfe072521e7442cb"/>
    <p:sldId xmlns:r="http://schemas.openxmlformats.org/officeDocument/2006/relationships" id="263" r:id="Rf2207ad54eaf4279"/>
    <p:sldId xmlns:r="http://schemas.openxmlformats.org/officeDocument/2006/relationships" id="264" r:id="Raefcb315b905457d"/>
    <p:sldId xmlns:r="http://schemas.openxmlformats.org/officeDocument/2006/relationships" id="265" r:id="R56bc94b1a84544ee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3d5d5bc2d044efc" /><Relationship Type="http://schemas.openxmlformats.org/officeDocument/2006/relationships/slideMaster" Target="/ppt/slideMasters/slideMaster1.xml" Id="R0ffe46aaa44546f2" /><Relationship Type="http://schemas.openxmlformats.org/officeDocument/2006/relationships/notesMaster" Target="/ppt/notesMasters/notesMaster1.xml" Id="R2b4e2a2005e448e2" /><Relationship Type="http://schemas.openxmlformats.org/officeDocument/2006/relationships/presProps" Target="/ppt/presProps.xml" Id="R2eced7a118fb480f" /><Relationship Type="http://schemas.openxmlformats.org/officeDocument/2006/relationships/tableStyles" Target="/ppt/tableStyles.xml" Id="R24338ba1d9d1420f" /><Relationship Type="http://schemas.openxmlformats.org/officeDocument/2006/relationships/slide" Target="/ppt/slides/slide1.xml" Id="R805ecfa85e774c51" /><Relationship Type="http://schemas.openxmlformats.org/officeDocument/2006/relationships/slide" Target="/ppt/slides/slide2.xml" Id="R352786afdb3e4faa" /><Relationship Type="http://schemas.openxmlformats.org/officeDocument/2006/relationships/slide" Target="/ppt/slides/slide3.xml" Id="Rf6cf4965f236491f" /><Relationship Type="http://schemas.openxmlformats.org/officeDocument/2006/relationships/slide" Target="/ppt/slides/slide4.xml" Id="Racd3f90e026b44de" /><Relationship Type="http://schemas.openxmlformats.org/officeDocument/2006/relationships/slide" Target="/ppt/slides/slide5.xml" Id="Rb7d1954b7dc14f46" /><Relationship Type="http://schemas.openxmlformats.org/officeDocument/2006/relationships/slide" Target="/ppt/slides/slide6.xml" Id="Rd9d3f929a7714af3" /><Relationship Type="http://schemas.openxmlformats.org/officeDocument/2006/relationships/slide" Target="/ppt/slides/slide7.xml" Id="Rcfe072521e7442cb" /><Relationship Type="http://schemas.openxmlformats.org/officeDocument/2006/relationships/slide" Target="/ppt/slides/slide8.xml" Id="Rf2207ad54eaf4279" /><Relationship Type="http://schemas.openxmlformats.org/officeDocument/2006/relationships/slide" Target="/ppt/slides/slide9.xml" Id="Raefcb315b905457d" /><Relationship Type="http://schemas.openxmlformats.org/officeDocument/2006/relationships/slide" Target="/ppt/slides/slide10.xml" Id="R56bc94b1a84544e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0a55d074c76474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3efd4fae0e64099" /><Relationship Type="http://schemas.openxmlformats.org/officeDocument/2006/relationships/notesMaster" Target="/ppt/notesMasters/notesMaster1.xml" Id="R6b50c5934fd24b6e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bf728a4c00e54869" /><Relationship Type="http://schemas.openxmlformats.org/officeDocument/2006/relationships/notesMaster" Target="/ppt/notesMasters/notesMaster1.xml" Id="R991fe16af3574022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2b41eb34a77341fe" /><Relationship Type="http://schemas.openxmlformats.org/officeDocument/2006/relationships/notesMaster" Target="/ppt/notesMasters/notesMaster1.xml" Id="R86df4e3057764ca8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553635372da040a5" /><Relationship Type="http://schemas.openxmlformats.org/officeDocument/2006/relationships/notesMaster" Target="/ppt/notesMasters/notesMaster1.xml" Id="R6f1ab2c921174660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7f163e50c09d4fcc" /><Relationship Type="http://schemas.openxmlformats.org/officeDocument/2006/relationships/notesMaster" Target="/ppt/notesMasters/notesMaster1.xml" Id="R4c5d92193f2b4ee1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47245a78969f4e9f" /><Relationship Type="http://schemas.openxmlformats.org/officeDocument/2006/relationships/notesMaster" Target="/ppt/notesMasters/notesMaster1.xml" Id="R029abc0f5ed74aa6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b116598169d54bea" /><Relationship Type="http://schemas.openxmlformats.org/officeDocument/2006/relationships/notesMaster" Target="/ppt/notesMasters/notesMaster1.xml" Id="Re425e2e57a9643c4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15af9cae04c14fd8" /><Relationship Type="http://schemas.openxmlformats.org/officeDocument/2006/relationships/notesMaster" Target="/ppt/notesMasters/notesMaster1.xml" Id="R73ae21351e1048df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ac6798f541384b94" /><Relationship Type="http://schemas.openxmlformats.org/officeDocument/2006/relationships/notesMaster" Target="/ppt/notesMasters/notesMaster1.xml" Id="R54bb77e72f574c9b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a3a137920c944e86" /><Relationship Type="http://schemas.openxmlformats.org/officeDocument/2006/relationships/notesMaster" Target="/ppt/notesMasters/notesMaster1.xml" Id="Rc9292072d307446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Scope: README.md; quality/final-repository-review-2026-10-06.md; D040/D041 in decisions.md. Independent package, unpublished, no Cardboard account/internal access. EX01 stopped with partial exploratory evidence. No company growth outcome.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Three specifically inspected official articles: research/product-audit.md, research/offer-refresh-2026-10-04.md and research/website-hygiene.md. Dates October 2–4, 2026. Exact comparisons retained there; not a census. Sources https://www.cardboard.ai/pricing and three dated blog routes. No lost-signup/comprehension evidence. Historical claims not current access terms.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research/evidence-summary.json and research/collection-method.md: 20 original Google observations, 12 completed ChatGPT observations, 72 source entries. Original Google lists incomplete/location unknown. ChatGPT cohorts differ/date/effort, branded controls and repeated wording. Separate October 5 India/English cohort: research/google-followup-summary-2026-10-05.json and review; 5 queries, 10 page captures, 92 headings, 0 owned, 1 third-party YC Cardboard heading. Not comparable rank trend.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Generalized observations only: experiments/workflow-fit/collection-closeout-2026-10-06.md and content/revisions/01-workflow-switch-v1.2-notes.md. Private mappings/exact replies outside Git. No frequency, eligible buyer count or representative inference. Some accounts are maker/service-provider context, eligibility unknown.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experiments/workflow-fit/collection-closeout-2026-10-06.md: zero fully verified main cases, zero aid tasks and protocol readbacks. results.csv header only. protocol.md unchanged. D033 removes consent requests for generalized summaries, not eligibility/stage requirements. D034 ends outreach and deletes monitor. Later named-brand prompt contaminates unaided awareness; keep awareness/use/interest separate.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Article before: content/blogs/01-workflow-switch.md and content/revisions/01-workflow-switch-seo-v1.1.md. After: content/revisions/01-workflow-switch-evidence-v1.2.md. Reasoning: 01-workflow-switch-v1.2-notes.md. Aid v2: experiments/workflow-fit/materials/decision-aid-v2-exploratory.md; revision-log.md. Codex synthesized/drafted under Titash authorization. No respondent review or aid-task feedback.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research/artifact-manifest.json lists five current drafts and brief references. Article 1 v1.2 plus corrected articles 2–5. quality/final-editorial-review-2026-10-06.md: distinct jobs, narrow coverage rereads, publication gates. Page: content/conversion/saas-demo-evaluation-page-v1.md and notes. Illustrative storyboard not product output. Drafts unpublished; exact-query/canonical/company approval and public routes remain release dependencies.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strategy/funnel.md, strategy/measurement-plan.md, strategy/measurement-events.csv: six AAARRR stages, 12 proposed event contracts. Activation useful delivery within 7 days provisional; retention distinct job in 30 days provisional; revenue settled positive access, refunds/net distinct; payment may precede delivery so revenue denominator unpaid at entry. Referral attributable eligible new account useful delivery. No implementation, baseline or result.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strategy/experiment-backlog.md: EX02 page comprehension, EX03 conditional offer comprehension, EX04 genuine correction comparison, EX05 article usefulness, EX06 company commercial route. Five proposals, not run/authorized. Small pilots are formative, not population or conversion estimates. Existing measurement event contracts reused. No new outreach/account/spend/publication authorized.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strategy/contribution-log.md; decisions.md D040/D041; quality/final-repository-review-2026-10-06.md. Titash chose incumbent adequacy first and authorized evidence-bound revisions/package. Codex performed public research, synthesis/drafting and package checks; other AI drafted supplied articles, corrected here. Founder refreshed October 6 via https://www.ycombinator.com/companies/cardboard and https://www.cardboard.ai/; pitch outreach/founder-message.md remains unsent, repo private/access not granted.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3fbdd19335b4258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204ea9f7a844a6f" /><Relationship Type="http://schemas.openxmlformats.org/officeDocument/2006/relationships/slideLayout" Target="/ppt/slideLayouts/slideLayout1.xml" Id="Ra5dadcc2725e4af3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5dadcc2725e4af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cb1ba4954504132" /><Relationship Type="http://schemas.openxmlformats.org/officeDocument/2006/relationships/notesSlide" Target="/ppt/notesSlides/notesSlide1.xml" Id="Rf6cc6b6a7e6f4c5b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2f59d8120234524" /><Relationship Type="http://schemas.openxmlformats.org/officeDocument/2006/relationships/notesSlide" Target="/ppt/notesSlides/notesSlide2.xml" Id="R1060694462dd4eb8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aea3e36a1294ab6" /><Relationship Type="http://schemas.openxmlformats.org/officeDocument/2006/relationships/notesSlide" Target="/ppt/notesSlides/notesSlide3.xml" Id="Rc31ba2be87de41c5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a9989f4ee0f444d" /><Relationship Type="http://schemas.openxmlformats.org/officeDocument/2006/relationships/notesSlide" Target="/ppt/notesSlides/notesSlide4.xml" Id="R6c3b6bfe382344dd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0f828f45bdc4d19" /><Relationship Type="http://schemas.openxmlformats.org/officeDocument/2006/relationships/notesSlide" Target="/ppt/notesSlides/notesSlide5.xml" Id="R6625595d09c64861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db6b2a2a14f407d" /><Relationship Type="http://schemas.openxmlformats.org/officeDocument/2006/relationships/notesSlide" Target="/ppt/notesSlides/notesSlide6.xml" Id="R41ce499e09f7461a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13569a6987241e8" /><Relationship Type="http://schemas.openxmlformats.org/officeDocument/2006/relationships/notesSlide" Target="/ppt/notesSlides/notesSlide7.xml" Id="R607e097e62f44fcd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288364b29e24d00" /><Relationship Type="http://schemas.openxmlformats.org/officeDocument/2006/relationships/notesSlide" Target="/ppt/notesSlides/notesSlide8.xml" Id="Ra075bca5f6e2441c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b11521ccb9d4b71" /><Relationship Type="http://schemas.openxmlformats.org/officeDocument/2006/relationships/notesSlide" Target="/ppt/notesSlides/notesSlide9.xml" Id="R5a4b20c085cc4200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b0f3f83b36e4a19" /><Relationship Type="http://schemas.openxmlformats.org/officeDocument/2006/relationships/notesSlide" Target="/ppt/notesSlides/notesSlide10.xml" Id="Rcd54424d0ee14e6a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202D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EDB29D6-6482-4CBF-BE5F-74F2446612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1066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D5D8CB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D5D8CB"/>
                </a:solidFill>
                <a:latin typeface="Arial"/>
                <a:ea typeface="Arial"/>
                <a:cs typeface="Arial"/>
              </a:rPr>
              <a:t>GROWTH RESEARCH + EDITORIAL WORK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E3ECFC0-A050-451B-A960-66A1C14802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38200"/>
            <a:ext cx="10953750" cy="1085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F4F1E9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F4F1E9"/>
                </a:solidFill>
                <a:latin typeface="Arial"/>
                <a:ea typeface="Arial"/>
                <a:cs typeface="Arial"/>
              </a:rPr>
              <a:t>Cardboard</a:t>
            </a:r>
          </a:p>
          <a:p xmlns:a="http://schemas.openxmlformats.org/drawingml/2006/main">
            <a:pPr>
              <a:defRPr sz="3300" b="1">
                <a:solidFill>
                  <a:srgbClr val="F4F1E9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F4F1E9"/>
                </a:solidFill>
                <a:latin typeface="Arial"/>
                <a:ea typeface="Arial"/>
                <a:cs typeface="Arial"/>
              </a:rPr>
              <a:t>Workflow learning into useful content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A0FAF5E-8EB3-477D-A723-323241BC9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674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6635C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DDE5171-787D-4465-B318-B6F5BE77F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0325"/>
            <a:ext cx="10287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D5D8C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D5D8CB"/>
                </a:solidFill>
                <a:latin typeface="Arial"/>
                <a:ea typeface="Arial"/>
                <a:cs typeface="Arial"/>
              </a:rPr>
              <a:t>Titash Sinha  /  Independent, AI-assisted work sample  /  6 October 2026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8A900FA-AD22-4B65-9E87-8E65B5762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10325"/>
            <a:ext cx="5334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D5D8C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D5D8CB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0EC4158-FB87-496F-9F25-28990B1465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43250"/>
            <a:ext cx="97155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850" b="0">
                <a:solidFill>
                  <a:srgbClr val="F4F1E9"/>
                </a:solidFill>
                <a:latin typeface="Arial"/>
                <a:ea typeface="Arial"/>
                <a:cs typeface="Arial"/>
              </a:defRPr>
            </a:pPr>
            <a:r>
              <a:rPr sz="2850" b="0">
                <a:solidFill>
                  <a:srgbClr val="F4F1E9"/>
                </a:solidFill>
                <a:latin typeface="Arial"/>
                <a:ea typeface="Arial"/>
                <a:cs typeface="Arial"/>
              </a:rPr>
              <a:t>Identify the work that needs help.</a:t>
            </a:r>
          </a:p>
          <a:p xmlns:a="http://schemas.openxmlformats.org/drawingml/2006/main">
            <a:pPr>
              <a:defRPr sz="2850" b="0">
                <a:solidFill>
                  <a:srgbClr val="F4F1E9"/>
                </a:solidFill>
                <a:latin typeface="Arial"/>
                <a:ea typeface="Arial"/>
                <a:cs typeface="Arial"/>
              </a:defRPr>
            </a:pPr>
            <a:r>
              <a:rPr sz="2850" b="0">
                <a:solidFill>
                  <a:srgbClr val="F4F1E9"/>
                </a:solidFill>
                <a:latin typeface="Arial"/>
                <a:ea typeface="Arial"/>
                <a:cs typeface="Arial"/>
              </a:rPr>
              <a:t>Keep the editor that already works.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C349EAA-727A-432C-99CF-B7C389D92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10150"/>
            <a:ext cx="10477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D5D8CB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D5D8CB"/>
                </a:solidFill>
                <a:latin typeface="Arial"/>
                <a:ea typeface="Arial"/>
                <a:cs typeface="Arial"/>
              </a:rPr>
              <a:t>Research  →  exploratory learning  →  articles + evaluation copy  →  proposed tests</a:t>
            </a:r>
          </a:p>
        </p:txBody>
      </p:sp>
    </p:spTree>
    <p:extLst>
      <p:ext uri="{BB962C8B-B14F-4D97-AF65-F5344CB8AC3E}">
        <p14:creationId xmlns:p14="http://schemas.microsoft.com/office/powerpoint/2010/main" val="126138278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4F1E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690D6BB-E7AD-4472-9749-E458A5E074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1066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AD562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AD562F"/>
                </a:solidFill>
                <a:latin typeface="Arial"/>
                <a:ea typeface="Arial"/>
                <a:cs typeface="Arial"/>
              </a:rPr>
              <a:t>OBSERVATION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55FF265-1BBF-4508-95F1-9AB3CD67D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38200"/>
            <a:ext cx="10953750" cy="1085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202D2A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202D2A"/>
                </a:solidFill>
                <a:latin typeface="Arial"/>
                <a:ea typeface="Arial"/>
                <a:cs typeface="Arial"/>
              </a:rPr>
              <a:t>A specific offer inconsistency,</a:t>
            </a:r>
          </a:p>
          <a:p xmlns:a="http://schemas.openxmlformats.org/drawingml/2006/main">
            <a:pPr>
              <a:defRPr sz="3300" b="1">
                <a:solidFill>
                  <a:srgbClr val="202D2A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202D2A"/>
                </a:solidFill>
                <a:latin typeface="Arial"/>
                <a:ea typeface="Arial"/>
                <a:cs typeface="Arial"/>
              </a:rPr>
              <a:t>with an unmeasured business effect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343214A-FE88-4C09-90FD-D758958CBA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674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8CB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D729B97-B2DC-467E-AEC9-099D1DB35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0325"/>
            <a:ext cx="10287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6635C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6635C"/>
                </a:solidFill>
                <a:latin typeface="Arial"/>
                <a:ea typeface="Arial"/>
                <a:cs typeface="Arial"/>
              </a:rPr>
              <a:t>Titash Sinha  /  Independent, AI-assisted work sample  /  6 October 2026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86538BA-0547-49AF-957F-52FED8EA11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10325"/>
            <a:ext cx="5334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6635C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6635C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1F0604D-094A-4E86-84F6-A28304AF0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38375"/>
            <a:ext cx="171450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7200" b="1">
                <a:solidFill>
                  <a:srgbClr val="AD562F"/>
                </a:solidFill>
                <a:latin typeface="Arial"/>
                <a:ea typeface="Arial"/>
                <a:cs typeface="Arial"/>
              </a:defRPr>
            </a:pPr>
            <a:r>
              <a:rPr sz="7200" b="1">
                <a:solidFill>
                  <a:srgbClr val="AD562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F4B8B98-3B8E-478F-9F41-7F3241DF03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2381250"/>
            <a:ext cx="7620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202D2A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202D2A"/>
                </a:solidFill>
                <a:latin typeface="Arial"/>
                <a:ea typeface="Arial"/>
                <a:cs typeface="Arial"/>
              </a:rPr>
              <a:t>checked official articles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6187E49-901A-4D13-BE59-DA26A0DE80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2933700"/>
            <a:ext cx="8191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202D2A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202D2A"/>
                </a:solidFill>
                <a:latin typeface="Arial"/>
                <a:ea typeface="Arial"/>
                <a:cs typeface="Arial"/>
              </a:rPr>
              <a:t>Offer claims differed from the inspected pricing display or from one another.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AA1C9D5-3BD3-4083-96E1-A85179971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62450"/>
            <a:ext cx="4953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AD562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AD562F"/>
                </a:solidFill>
                <a:latin typeface="Arial"/>
                <a:ea typeface="Arial"/>
                <a:cs typeface="Arial"/>
              </a:rPr>
              <a:t>WHAT THIS ESTABLISHES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7F7A77C-3613-4887-93C7-64663C00DA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19650"/>
            <a:ext cx="4953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202D2A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202D2A"/>
                </a:solidFill>
                <a:latin typeface="Arial"/>
                <a:ea typeface="Arial"/>
                <a:cs typeface="Arial"/>
              </a:rPr>
              <a:t>Information needs reconciliation.</a:t>
            </a:r>
          </a:p>
          <a:p xmlns:a="http://schemas.openxmlformats.org/drawingml/2006/main">
            <a:pPr>
              <a:defRPr sz="1950" b="0">
                <a:solidFill>
                  <a:srgbClr val="202D2A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202D2A"/>
                </a:solidFill>
                <a:latin typeface="Arial"/>
                <a:ea typeface="Arial"/>
                <a:cs typeface="Arial"/>
              </a:rPr>
              <a:t>Confirm the source of offer truth.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E69CE0C-D6D1-4261-900A-F2B73B1FA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362450"/>
            <a:ext cx="4953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AD562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AD562F"/>
                </a:solidFill>
                <a:latin typeface="Arial"/>
                <a:ea typeface="Arial"/>
                <a:cs typeface="Arial"/>
              </a:rPr>
              <a:t>WHAT TO TEST NEXT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0E1255C-8021-4AEC-9309-00DA6AC9D4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819650"/>
            <a:ext cx="519112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202D2A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202D2A"/>
                </a:solidFill>
                <a:latin typeface="Arial"/>
                <a:ea typeface="Arial"/>
                <a:cs typeface="Arial"/>
              </a:rPr>
              <a:t>Can a relevant reader explain access</a:t>
            </a:r>
          </a:p>
          <a:p xmlns:a="http://schemas.openxmlformats.org/drawingml/2006/main">
            <a:pPr>
              <a:defRPr sz="1950" b="0">
                <a:solidFill>
                  <a:srgbClr val="202D2A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202D2A"/>
                </a:solidFill>
                <a:latin typeface="Arial"/>
                <a:ea typeface="Arial"/>
                <a:cs typeface="Arial"/>
              </a:rPr>
              <a:t>and choose a truthful next action?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BB342F4-963A-4CC2-A41C-A563A76F05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43575"/>
            <a:ext cx="10972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56635C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6635C"/>
                </a:solidFill>
                <a:latin typeface="Arial"/>
                <a:ea typeface="Arial"/>
                <a:cs typeface="Arial"/>
              </a:rPr>
              <a:t>No measured buyer confusion, conversion loss or revenue effect.</a:t>
            </a:r>
          </a:p>
        </p:txBody>
      </p:sp>
    </p:spTree>
    <p:extLst>
      <p:ext uri="{BB962C8B-B14F-4D97-AF65-F5344CB8AC3E}">
        <p14:creationId xmlns:p14="http://schemas.microsoft.com/office/powerpoint/2010/main" val="212511177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4F1E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963B413-24CA-44B2-96FB-EE62B71386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1066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AD562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AD562F"/>
                </a:solidFill>
                <a:latin typeface="Arial"/>
                <a:ea typeface="Arial"/>
                <a:cs typeface="Arial"/>
              </a:rPr>
              <a:t>RESEARCH SCOPE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415DE46-C666-461B-8E4C-07AA8F5AE6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38200"/>
            <a:ext cx="10953750" cy="1085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202D2A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202D2A"/>
                </a:solidFill>
                <a:latin typeface="Arial"/>
                <a:ea typeface="Arial"/>
                <a:cs typeface="Arial"/>
              </a:rPr>
              <a:t>Discovery is a bounded inventory,</a:t>
            </a:r>
          </a:p>
          <a:p xmlns:a="http://schemas.openxmlformats.org/drawingml/2006/main">
            <a:pPr>
              <a:defRPr sz="3300" b="1">
                <a:solidFill>
                  <a:srgbClr val="202D2A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202D2A"/>
                </a:solidFill>
                <a:latin typeface="Arial"/>
                <a:ea typeface="Arial"/>
                <a:cs typeface="Arial"/>
              </a:rPr>
              <a:t>not a market-wide visibility verdict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D797805-70B9-4CCB-8D9B-2CB4177F4D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674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8CB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68CA009-4427-474E-B770-15CD37260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0325"/>
            <a:ext cx="10287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6635C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6635C"/>
                </a:solidFill>
                <a:latin typeface="Arial"/>
                <a:ea typeface="Arial"/>
                <a:cs typeface="Arial"/>
              </a:rPr>
              <a:t>Titash Sinha  /  Independent, AI-assisted work sample  /  6 October 2026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7F75DC0-F063-4175-92D4-576388084A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10325"/>
            <a:ext cx="5334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6635C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6635C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37AA352-E349-4636-919E-1B6AA6052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71700"/>
            <a:ext cx="3048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5700" b="1">
                <a:solidFill>
                  <a:srgbClr val="AD562F"/>
                </a:solidFill>
                <a:latin typeface="Arial"/>
                <a:ea typeface="Arial"/>
                <a:cs typeface="Arial"/>
              </a:defRPr>
            </a:pPr>
            <a:r>
              <a:rPr sz="5700" b="1">
                <a:solidFill>
                  <a:srgbClr val="AD562F"/>
                </a:solidFill>
                <a:latin typeface="Arial"/>
                <a:ea typeface="Arial"/>
                <a:cs typeface="Arial"/>
              </a:rPr>
              <a:t>20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71B0390-24EB-4714-9549-D9430D5A9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48025"/>
            <a:ext cx="33337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202D2A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202D2A"/>
                </a:solidFill>
                <a:latin typeface="Arial"/>
                <a:ea typeface="Arial"/>
                <a:cs typeface="Arial"/>
              </a:rPr>
              <a:t>Google observations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7BB176C-32B9-4BA0-A604-EDB21D6DEB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62375"/>
            <a:ext cx="3333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6635C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6635C"/>
                </a:solidFill>
                <a:latin typeface="Arial"/>
                <a:ea typeface="Arial"/>
                <a:cs typeface="Arial"/>
              </a:rPr>
              <a:t>Original field-note cohort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A53BEE8-773B-49C8-860F-A486C087EA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2171700"/>
            <a:ext cx="3048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5700" b="1">
                <a:solidFill>
                  <a:srgbClr val="AD562F"/>
                </a:solidFill>
                <a:latin typeface="Arial"/>
                <a:ea typeface="Arial"/>
                <a:cs typeface="Arial"/>
              </a:defRPr>
            </a:pPr>
            <a:r>
              <a:rPr sz="5700" b="1">
                <a:solidFill>
                  <a:srgbClr val="AD562F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D7B7A99-1EB1-4D1E-BBED-735A93C8FC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3248025"/>
            <a:ext cx="33337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202D2A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202D2A"/>
                </a:solidFill>
                <a:latin typeface="Arial"/>
                <a:ea typeface="Arial"/>
                <a:cs typeface="Arial"/>
              </a:rPr>
              <a:t>ChatGPT observations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502730C-7765-4250-BF1A-D7936F6EE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3762375"/>
            <a:ext cx="3333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6635C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6635C"/>
                </a:solidFill>
                <a:latin typeface="Arial"/>
                <a:ea typeface="Arial"/>
                <a:cs typeface="Arial"/>
              </a:rPr>
              <a:t>Completed; mixed settings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5DB021C-62EB-4EE2-B73B-E14CAB4A5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171700"/>
            <a:ext cx="3048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5700" b="1">
                <a:solidFill>
                  <a:srgbClr val="AD562F"/>
                </a:solidFill>
                <a:latin typeface="Arial"/>
                <a:ea typeface="Arial"/>
                <a:cs typeface="Arial"/>
              </a:defRPr>
            </a:pPr>
            <a:r>
              <a:rPr sz="5700" b="1">
                <a:solidFill>
                  <a:srgbClr val="AD562F"/>
                </a:solidFill>
                <a:latin typeface="Arial"/>
                <a:ea typeface="Arial"/>
                <a:cs typeface="Arial"/>
              </a:rPr>
              <a:t>72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05AD95E-6660-4123-86FC-473E277043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3248025"/>
            <a:ext cx="33337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202D2A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202D2A"/>
                </a:solidFill>
                <a:latin typeface="Arial"/>
                <a:ea typeface="Arial"/>
                <a:cs typeface="Arial"/>
              </a:rPr>
              <a:t>Source records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5686F44-4A5F-4490-BBF6-D33478B89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3762375"/>
            <a:ext cx="3333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6635C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6635C"/>
                </a:solidFill>
                <a:latin typeface="Arial"/>
                <a:ea typeface="Arial"/>
                <a:cs typeface="Arial"/>
              </a:rPr>
              <a:t>Inventory, including rereads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0472250-AABA-4BA9-A013-7E7BCBA014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05350"/>
            <a:ext cx="10972800" cy="828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8DE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D7B7E16-20C7-4338-8F50-F7E79B30C9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838700"/>
            <a:ext cx="10572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202D2A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202D2A"/>
                </a:solidFill>
                <a:latin typeface="Arial"/>
                <a:ea typeface="Arial"/>
                <a:cs typeface="Arial"/>
              </a:rPr>
              <a:t>Separate India / English check: 5 queries, 92 captured headings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5624C9D-FCD1-4F0A-8BD2-E23EB0EC4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219700"/>
            <a:ext cx="10572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202D2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02D2A"/>
                </a:solidFill>
                <a:latin typeface="Arial"/>
                <a:ea typeface="Arial"/>
                <a:cs typeface="Arial"/>
              </a:rPr>
              <a:t>0 owned Cardboard headings; 1 third-party YC result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DE257E7-000F-4C7E-89BE-A5F351499A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43575"/>
            <a:ext cx="10972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56635C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6635C"/>
                </a:solidFill>
                <a:latin typeface="Arial"/>
                <a:ea typeface="Arial"/>
                <a:cs typeface="Arial"/>
              </a:rPr>
              <a:t>Incomplete original Google retention; mixed AI cohorts. No universal invisibility or ranking trend.</a:t>
            </a:r>
          </a:p>
        </p:txBody>
      </p:sp>
    </p:spTree>
    <p:extLst>
      <p:ext uri="{BB962C8B-B14F-4D97-AF65-F5344CB8AC3E}">
        <p14:creationId xmlns:p14="http://schemas.microsoft.com/office/powerpoint/2010/main" val="31310062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4F1E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7F30FD9-AAB7-456B-89E5-3AFC1C4F6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1066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AD562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AD562F"/>
                </a:solidFill>
                <a:latin typeface="Arial"/>
                <a:ea typeface="Arial"/>
                <a:cs typeface="Arial"/>
              </a:rPr>
              <a:t>EXPLORATORY MAKER LEARNING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65D034B-BD7A-46A6-98DB-CCF2DC7E8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38200"/>
            <a:ext cx="10953750" cy="1085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202D2A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202D2A"/>
                </a:solidFill>
                <a:latin typeface="Arial"/>
                <a:ea typeface="Arial"/>
                <a:cs typeface="Arial"/>
              </a:rPr>
              <a:t>Different production stages</a:t>
            </a:r>
          </a:p>
          <a:p xmlns:a="http://schemas.openxmlformats.org/drawingml/2006/main">
            <a:pPr>
              <a:defRPr sz="3300" b="1">
                <a:solidFill>
                  <a:srgbClr val="202D2A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202D2A"/>
                </a:solidFill>
                <a:latin typeface="Arial"/>
                <a:ea typeface="Arial"/>
                <a:cs typeface="Arial"/>
              </a:rPr>
              <a:t>need different kinds of help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6399E32-C234-4634-937F-3FA16393A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674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8CB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5894B65-EE56-49EB-9850-64F18DB516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0325"/>
            <a:ext cx="10287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6635C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6635C"/>
                </a:solidFill>
                <a:latin typeface="Arial"/>
                <a:ea typeface="Arial"/>
                <a:cs typeface="Arial"/>
              </a:rPr>
              <a:t>Titash Sinha  /  Independent, AI-assisted work sample  /  6 October 2026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5E0B6AA-D4BC-4A8C-BEA7-1271D5B6B1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10325"/>
            <a:ext cx="5334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6635C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6635C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1DA7523-E99C-4BAA-BD8C-0C3B674C1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71700"/>
            <a:ext cx="32861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202D2A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202D2A"/>
                </a:solidFill>
                <a:latin typeface="Arial"/>
                <a:ea typeface="Arial"/>
                <a:cs typeface="Arial"/>
              </a:rPr>
              <a:t>Planning + graphics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69EA1BB-B046-4145-9BE9-5CE1104FF4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2171700"/>
            <a:ext cx="7239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202D2A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02D2A"/>
                </a:solidFill>
                <a:latin typeface="Arial"/>
                <a:ea typeface="Arial"/>
                <a:cs typeface="Arial"/>
              </a:rPr>
              <a:t>Ideas, storyboards and interface preparation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48E9F25-AA1E-4D80-949A-68307F8B6A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194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8CB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535A2C8-8B1B-43F0-A00A-3ABFD2BACF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90850"/>
            <a:ext cx="32861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202D2A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202D2A"/>
                </a:solidFill>
                <a:latin typeface="Arial"/>
                <a:ea typeface="Arial"/>
                <a:cs typeface="Arial"/>
              </a:rPr>
              <a:t>Animation + polish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8D82E0B-B0EC-4670-B79B-B856C10165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2990850"/>
            <a:ext cx="7239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202D2A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02D2A"/>
                </a:solidFill>
                <a:latin typeface="Arial"/>
                <a:ea typeface="Arial"/>
                <a:cs typeface="Arial"/>
              </a:rPr>
              <a:t>Timing, easing, sound and precise creative control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81B7E97-5AD1-44DD-89DF-FCB03EAFBD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385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8CB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2626252-5921-473B-9EB9-6FCCD8F091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0"/>
            <a:ext cx="32861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202D2A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202D2A"/>
                </a:solidFill>
                <a:latin typeface="Arial"/>
                <a:ea typeface="Arial"/>
                <a:cs typeface="Arial"/>
              </a:rPr>
              <a:t>Corrections + handoff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E3A32D3-2E94-4BE7-B91E-3AAEE4781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3810000"/>
            <a:ext cx="7239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202D2A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02D2A"/>
                </a:solidFill>
                <a:latin typeface="Arial"/>
                <a:ea typeface="Arial"/>
                <a:cs typeface="Arial"/>
              </a:rPr>
              <a:t>Editable structure, assets and access matter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4035AF9-AB58-4A43-A22F-0C53A9EE29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577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8CB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8FD1963-5E5A-4CC8-9A2E-2B615D0A74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29150"/>
            <a:ext cx="32861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202D2A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202D2A"/>
                </a:solidFill>
                <a:latin typeface="Arial"/>
                <a:ea typeface="Arial"/>
                <a:cs typeface="Arial"/>
              </a:rPr>
              <a:t>Incumbent fit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8F3708B-25D4-4069-8BC0-9D1D1B63B1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4629150"/>
            <a:ext cx="7239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202D2A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02D2A"/>
                </a:solidFill>
                <a:latin typeface="Arial"/>
                <a:ea typeface="Arial"/>
                <a:cs typeface="Arial"/>
              </a:rPr>
              <a:t>AI assistance can coexist with manual finishing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3C43CD1-BED0-4905-84F9-D0B1692452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43575"/>
            <a:ext cx="10972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56635C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6635C"/>
                </a:solidFill>
                <a:latin typeface="Arial"/>
                <a:ea typeface="Arial"/>
                <a:cs typeface="Arial"/>
              </a:rPr>
              <a:t>Useful context, not screened SaaS-buyer validation or evidence of Cardboard performance.</a:t>
            </a:r>
          </a:p>
        </p:txBody>
      </p:sp>
    </p:spTree>
    <p:extLst>
      <p:ext uri="{BB962C8B-B14F-4D97-AF65-F5344CB8AC3E}">
        <p14:creationId xmlns:p14="http://schemas.microsoft.com/office/powerpoint/2010/main" val="157723325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4F1E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D6C2FFB-113D-41D0-9285-799C4B518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1066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AD562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AD562F"/>
                </a:solidFill>
                <a:latin typeface="Arial"/>
                <a:ea typeface="Arial"/>
                <a:cs typeface="Arial"/>
              </a:rPr>
              <a:t>EXPERIMENT STATUS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6762AA8-DB9C-4145-B8EB-8B7686984D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38200"/>
            <a:ext cx="10953750" cy="1085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202D2A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202D2A"/>
                </a:solidFill>
                <a:latin typeface="Arial"/>
                <a:ea typeface="Arial"/>
                <a:cs typeface="Arial"/>
              </a:rPr>
              <a:t>EX01 is closed with partial evidence.</a:t>
            </a:r>
          </a:p>
          <a:p xmlns:a="http://schemas.openxmlformats.org/drawingml/2006/main">
            <a:pPr>
              <a:defRPr sz="3300" b="1">
                <a:solidFill>
                  <a:srgbClr val="202D2A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202D2A"/>
                </a:solidFill>
                <a:latin typeface="Arial"/>
                <a:ea typeface="Arial"/>
                <a:cs typeface="Arial"/>
              </a:rPr>
              <a:t>The formal verdict is unavailable.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079822D-8B35-4451-910E-D76CBF594C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674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8CB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0E62B15-48E2-4F46-A70B-882287F165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0325"/>
            <a:ext cx="10287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6635C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6635C"/>
                </a:solidFill>
                <a:latin typeface="Arial"/>
                <a:ea typeface="Arial"/>
                <a:cs typeface="Arial"/>
              </a:rPr>
              <a:t>Titash Sinha  /  Independent, AI-assisted work sample  /  6 October 2026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EA54906-E7D9-418B-A139-1D6213A2F3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10325"/>
            <a:ext cx="5334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6635C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6635C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5BC0583-27B1-4B51-99A0-56E00E52A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43125"/>
            <a:ext cx="23812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6150" b="1">
                <a:solidFill>
                  <a:srgbClr val="AD562F"/>
                </a:solidFill>
                <a:latin typeface="Arial"/>
                <a:ea typeface="Arial"/>
                <a:cs typeface="Arial"/>
              </a:defRPr>
            </a:pPr>
            <a:r>
              <a:rPr sz="6150" b="1">
                <a:solidFill>
                  <a:srgbClr val="AD562F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7B57669-5AD7-4823-9C05-FF61841BF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24225"/>
            <a:ext cx="5048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202D2A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202D2A"/>
                </a:solidFill>
                <a:latin typeface="Arial"/>
                <a:ea typeface="Arial"/>
                <a:cs typeface="Arial"/>
              </a:rPr>
              <a:t>fully verified main cases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A4EC896-7018-4E02-9287-FE9C5CAEA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143125"/>
            <a:ext cx="23812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6150" b="1">
                <a:solidFill>
                  <a:srgbClr val="AD562F"/>
                </a:solidFill>
                <a:latin typeface="Arial"/>
                <a:ea typeface="Arial"/>
                <a:cs typeface="Arial"/>
              </a:defRPr>
            </a:pPr>
            <a:r>
              <a:rPr sz="6150" b="1">
                <a:solidFill>
                  <a:srgbClr val="AD562F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9B981F2-E7E1-4E94-9FDB-4A12526E37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324225"/>
            <a:ext cx="52006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202D2A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202D2A"/>
                </a:solidFill>
                <a:latin typeface="Arial"/>
                <a:ea typeface="Arial"/>
                <a:cs typeface="Arial"/>
              </a:rPr>
              <a:t>aid tasks / protocol readbacks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FADC6C7-5483-43DE-8BC2-288B4CE4A0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81500"/>
            <a:ext cx="109728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8DE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5A94CDD-1E94-4925-A3EA-11D5F3838F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543425"/>
            <a:ext cx="10382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202D2A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202D2A"/>
                </a:solidFill>
                <a:latin typeface="Arial"/>
                <a:ea typeface="Arial"/>
                <a:cs typeface="Arial"/>
              </a:rPr>
              <a:t>Retain the learning. Do not apply the five-case threshold.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578559E-FB0B-49E4-BF94-C99B9A81AA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057775"/>
            <a:ext cx="102870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202D2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02D2A"/>
                </a:solidFill>
                <a:latin typeface="Arial"/>
                <a:ea typeface="Arial"/>
                <a:cs typeface="Arial"/>
              </a:rPr>
              <a:t>Prompted brand opinions are separate from awareness, actual use and evaluation interest.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ADEFA3F-90CF-439D-8CC1-7F88D306B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43575"/>
            <a:ext cx="10972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56635C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6635C"/>
                </a:solidFill>
                <a:latin typeface="Arial"/>
                <a:ea typeface="Arial"/>
                <a:cs typeface="Arial"/>
              </a:rPr>
              <a:t>No validated demand; no fabricated screening, product task or participant readback. Outreach stays closed.</a:t>
            </a:r>
          </a:p>
        </p:txBody>
      </p:sp>
    </p:spTree>
    <p:extLst>
      <p:ext uri="{BB962C8B-B14F-4D97-AF65-F5344CB8AC3E}">
        <p14:creationId xmlns:p14="http://schemas.microsoft.com/office/powerpoint/2010/main" val="150246199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4F1E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84C26AA-8F86-4B44-8966-3CDF06F02C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1066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AD562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AD562F"/>
                </a:solidFill>
                <a:latin typeface="Arial"/>
                <a:ea typeface="Arial"/>
                <a:cs typeface="Arial"/>
              </a:rPr>
              <a:t>RESULT → EDITORIAL REVISION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F744765-F3F9-412B-AD35-EEE426A1BE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38200"/>
            <a:ext cx="10953750" cy="1085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202D2A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202D2A"/>
                </a:solidFill>
                <a:latin typeface="Arial"/>
                <a:ea typeface="Arial"/>
                <a:cs typeface="Arial"/>
              </a:rPr>
              <a:t>Actual replies changed the first article.</a:t>
            </a:r>
          </a:p>
          <a:p xmlns:a="http://schemas.openxmlformats.org/drawingml/2006/main">
            <a:pPr>
              <a:defRPr sz="3300" b="1">
                <a:solidFill>
                  <a:srgbClr val="202D2A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202D2A"/>
                </a:solidFill>
                <a:latin typeface="Arial"/>
                <a:ea typeface="Arial"/>
                <a:cs typeface="Arial"/>
              </a:rPr>
              <a:t>The aid revision remains an untested prototype.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AC04F2A-40B4-4744-AFAA-F4E270255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674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8CB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978A129-CDD3-478C-821D-57457A7A09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0325"/>
            <a:ext cx="10287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6635C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6635C"/>
                </a:solidFill>
                <a:latin typeface="Arial"/>
                <a:ea typeface="Arial"/>
                <a:cs typeface="Arial"/>
              </a:rPr>
              <a:t>Titash Sinha  /  Independent, AI-assisted work sample  /  6 October 2026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A76B32C-ADE4-4B4B-8322-79FCB5822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10325"/>
            <a:ext cx="5334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6635C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6635C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E49B519-4513-4001-8C57-A71937300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90750"/>
            <a:ext cx="4953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AD562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AD562F"/>
                </a:solidFill>
                <a:latin typeface="Arial"/>
                <a:ea typeface="Arial"/>
                <a:cs typeface="Arial"/>
              </a:rPr>
              <a:t>BEFORE: A GENERAL CHOICE FRAME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AB7F46A-1F30-4ADB-89E7-C45A3E318A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24150"/>
            <a:ext cx="5000625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202D2A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202D2A"/>
                </a:solidFill>
                <a:latin typeface="Arial"/>
                <a:ea typeface="Arial"/>
                <a:cs typeface="Arial"/>
              </a:rPr>
              <a:t>Ask whether a different editor would</a:t>
            </a:r>
          </a:p>
          <a:p xmlns:a="http://schemas.openxmlformats.org/drawingml/2006/main">
            <a:pPr>
              <a:defRPr sz="1950" b="0">
                <a:solidFill>
                  <a:srgbClr val="202D2A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202D2A"/>
                </a:solidFill>
                <a:latin typeface="Arial"/>
                <a:ea typeface="Arial"/>
                <a:cs typeface="Arial"/>
              </a:rPr>
              <a:t>help with a real recent video.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D2F444D-5912-48FB-B2FD-15B709C99F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43350"/>
            <a:ext cx="5000625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202D2A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202D2A"/>
                </a:solidFill>
                <a:latin typeface="Arial"/>
                <a:ea typeface="Arial"/>
                <a:cs typeface="Arial"/>
              </a:rPr>
              <a:t>Correction and output checks were</a:t>
            </a:r>
          </a:p>
          <a:p xmlns:a="http://schemas.openxmlformats.org/drawingml/2006/main">
            <a:pPr>
              <a:defRPr sz="1950" b="0">
                <a:solidFill>
                  <a:srgbClr val="202D2A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202D2A"/>
                </a:solidFill>
                <a:latin typeface="Arial"/>
                <a:ea typeface="Arial"/>
                <a:cs typeface="Arial"/>
              </a:rPr>
              <a:t>present, but less stage-specific.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14F0741-7FE6-430C-83AE-7BEDE2E1F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190750"/>
            <a:ext cx="4953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AD562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AD562F"/>
                </a:solidFill>
                <a:latin typeface="Arial"/>
                <a:ea typeface="Arial"/>
                <a:cs typeface="Arial"/>
              </a:rPr>
              <a:t>AFTER: DIAGNOSE THE STAGE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F407738-8B2B-4F2F-A09D-50EB93DE0D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724150"/>
            <a:ext cx="5191125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202D2A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202D2A"/>
                </a:solidFill>
                <a:latin typeface="Arial"/>
                <a:ea typeface="Arial"/>
                <a:cs typeface="Arial"/>
              </a:rPr>
              <a:t>Separate planning, source footage,</a:t>
            </a:r>
          </a:p>
          <a:p xmlns:a="http://schemas.openxmlformats.org/drawingml/2006/main">
            <a:pPr>
              <a:defRPr sz="1950" b="0">
                <a:solidFill>
                  <a:srgbClr val="202D2A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202D2A"/>
                </a:solidFill>
                <a:latin typeface="Arial"/>
                <a:ea typeface="Arial"/>
                <a:cs typeface="Arial"/>
              </a:rPr>
              <a:t>assembly, motion and finishing.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B988EA1-805E-4362-A877-32E6A65E6D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943350"/>
            <a:ext cx="5191125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202D2A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202D2A"/>
                </a:solidFill>
                <a:latin typeface="Arial"/>
                <a:ea typeface="Arial"/>
                <a:cs typeface="Arial"/>
              </a:rPr>
              <a:t>Distinguish useful craft from rework.</a:t>
            </a:r>
          </a:p>
          <a:p xmlns:a="http://schemas.openxmlformats.org/drawingml/2006/main">
            <a:pPr>
              <a:defRPr sz="1950" b="0">
                <a:solidFill>
                  <a:srgbClr val="202D2A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202D2A"/>
                </a:solidFill>
                <a:latin typeface="Arial"/>
                <a:ea typeface="Arial"/>
                <a:cs typeface="Arial"/>
              </a:rPr>
              <a:t>Inspect editability and whole-project fit.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183C696-3C05-4EDF-A01A-3F6B03CF06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43575"/>
            <a:ext cx="10972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56635C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6635C"/>
                </a:solidFill>
                <a:latin typeface="Arial"/>
                <a:ea typeface="Arial"/>
                <a:cs typeface="Arial"/>
              </a:rPr>
              <a:t>Reply-informed editorial revision; no demonstrated reader effect or executed aid feedback.</a:t>
            </a:r>
          </a:p>
        </p:txBody>
      </p:sp>
    </p:spTree>
    <p:extLst>
      <p:ext uri="{BB962C8B-B14F-4D97-AF65-F5344CB8AC3E}">
        <p14:creationId xmlns:p14="http://schemas.microsoft.com/office/powerpoint/2010/main" val="2143995631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4F1E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9CD6725-4080-450B-AA83-66C3511C2A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1066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AD562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AD562F"/>
                </a:solidFill>
                <a:latin typeface="Arial"/>
                <a:ea typeface="Arial"/>
                <a:cs typeface="Arial"/>
              </a:rPr>
              <a:t>CONTENT PACKAGE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92D8F7A-7DD1-4000-AF3B-AB3B7F6786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38200"/>
            <a:ext cx="10953750" cy="1085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202D2A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202D2A"/>
                </a:solidFill>
                <a:latin typeface="Arial"/>
                <a:ea typeface="Arial"/>
                <a:cs typeface="Arial"/>
              </a:rPr>
              <a:t>Five task-specific articles</a:t>
            </a:r>
          </a:p>
          <a:p xmlns:a="http://schemas.openxmlformats.org/drawingml/2006/main">
            <a:pPr>
              <a:defRPr sz="3300" b="1">
                <a:solidFill>
                  <a:srgbClr val="202D2A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202D2A"/>
                </a:solidFill>
                <a:latin typeface="Arial"/>
                <a:ea typeface="Arial"/>
                <a:cs typeface="Arial"/>
              </a:rPr>
              <a:t>and a complete evaluation-page copy sample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DCB4B35-8C56-44DF-8BC1-ECA24FE299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674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8CB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E9FE183-D958-4F00-975A-91AF9E00BA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0325"/>
            <a:ext cx="10287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6635C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6635C"/>
                </a:solidFill>
                <a:latin typeface="Arial"/>
                <a:ea typeface="Arial"/>
                <a:cs typeface="Arial"/>
              </a:rPr>
              <a:t>Titash Sinha  /  Independent, AI-assisted work sample  /  6 October 2026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40C9A45-51C9-4C83-AA83-F14552D5C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10325"/>
            <a:ext cx="5334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6635C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6635C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DE97C6E-CFE0-4E9C-BF9F-4ED001BCD8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90750"/>
            <a:ext cx="6096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AD562F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AD562F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420B235-7659-44C7-AABD-E9E26D2E96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2190750"/>
            <a:ext cx="65722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202D2A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202D2A"/>
                </a:solidFill>
                <a:latin typeface="Arial"/>
                <a:ea typeface="Arial"/>
                <a:cs typeface="Arial"/>
              </a:rPr>
              <a:t>Choose a workflow without assuming a switch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AFBAA2B-5311-4710-B0A2-617E649CEC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28925"/>
            <a:ext cx="6096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AD562F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AD562F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93250DD-A576-4D04-B5E6-C2393F9C5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2828925"/>
            <a:ext cx="65722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202D2A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202D2A"/>
                </a:solidFill>
                <a:latin typeface="Arial"/>
                <a:ea typeface="Arial"/>
                <a:cs typeface="Arial"/>
              </a:rPr>
              <a:t>QA a recorded SaaS product demo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E114BFD-7436-4D85-AF5F-76AD90424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67100"/>
            <a:ext cx="6096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AD562F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AD562F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6E672F7-4B25-4EA0-84AE-8E34A576A8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3467100"/>
            <a:ext cx="65722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202D2A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202D2A"/>
                </a:solidFill>
                <a:latin typeface="Arial"/>
                <a:ea typeface="Arial"/>
                <a:cs typeface="Arial"/>
              </a:rPr>
              <a:t>Inspect an editable AI-video handoff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F914D27-D5FD-450C-B2EA-68A29D3B5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05275"/>
            <a:ext cx="6096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AD562F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AD562F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5DEF08A-364D-45CE-93EA-FBE451EC7D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4105275"/>
            <a:ext cx="65722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202D2A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202D2A"/>
                </a:solidFill>
                <a:latin typeface="Arial"/>
                <a:ea typeface="Arial"/>
                <a:cs typeface="Arial"/>
              </a:rPr>
              <a:t>Compare Cardboard and Descript by workflow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FF57316-4099-4FE0-AE3E-62E621D700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43450"/>
            <a:ext cx="6096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AD562F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AD562F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F5C5F70-31A0-4574-A212-09C4D1355A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4743450"/>
            <a:ext cx="65722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202D2A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202D2A"/>
                </a:solidFill>
                <a:latin typeface="Arial"/>
                <a:ea typeface="Arial"/>
                <a:cs typeface="Arial"/>
              </a:rPr>
              <a:t>Adapt one demo feature for LinkedIn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D59B9A3-C4BC-4FCC-AF0A-A9CE27627A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2133600"/>
            <a:ext cx="3028950" cy="3238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8DE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5B4CCD6-BADE-4549-B054-6D62FE5A38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2343150"/>
            <a:ext cx="25908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AD562F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AD562F"/>
                </a:solidFill>
                <a:latin typeface="Arial"/>
                <a:ea typeface="Arial"/>
                <a:cs typeface="Arial"/>
              </a:rPr>
              <a:t>PAGE SAMPLE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A083175-2EE2-4254-9BF6-DECF1B77B9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2924175"/>
            <a:ext cx="25717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202D2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202D2A"/>
                </a:solidFill>
                <a:latin typeface="Arial"/>
                <a:ea typeface="Arial"/>
                <a:cs typeface="Arial"/>
              </a:rPr>
              <a:t>One feature.</a:t>
            </a:r>
          </a:p>
          <a:p xmlns:a="http://schemas.openxmlformats.org/drawingml/2006/main">
            <a:pPr>
              <a:defRPr sz="2550" b="1">
                <a:solidFill>
                  <a:srgbClr val="202D2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202D2A"/>
                </a:solidFill>
                <a:latin typeface="Arial"/>
                <a:ea typeface="Arial"/>
                <a:cs typeface="Arial"/>
              </a:rPr>
              <a:t>One explanation.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B79D9D4-9A18-4A77-904C-5A603FCB8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4305300"/>
            <a:ext cx="25717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202D2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02D2A"/>
                </a:solidFill>
                <a:latin typeface="Arial"/>
                <a:ea typeface="Arial"/>
                <a:cs typeface="Arial"/>
              </a:rPr>
              <a:t>Inputs → first cut →</a:t>
            </a:r>
          </a:p>
          <a:p xmlns:a="http://schemas.openxmlformats.org/drawingml/2006/main">
            <a:pPr>
              <a:defRPr sz="1800" b="0">
                <a:solidFill>
                  <a:srgbClr val="202D2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02D2A"/>
                </a:solidFill>
                <a:latin typeface="Arial"/>
                <a:ea typeface="Arial"/>
                <a:cs typeface="Arial"/>
              </a:rPr>
              <a:t>correction → export checks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F57C166-D247-4703-9DD6-79F90F9F2F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43575"/>
            <a:ext cx="10972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56635C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6635C"/>
                </a:solidFill>
                <a:latin typeface="Arial"/>
                <a:ea typeface="Arial"/>
                <a:cs typeface="Arial"/>
              </a:rPr>
              <a:t>Unpublished. Illustrative storyboard, genuine-proof requirements and truthful access links.</a:t>
            </a:r>
          </a:p>
        </p:txBody>
      </p:sp>
    </p:spTree>
    <p:extLst>
      <p:ext uri="{BB962C8B-B14F-4D97-AF65-F5344CB8AC3E}">
        <p14:creationId xmlns:p14="http://schemas.microsoft.com/office/powerpoint/2010/main" val="2067881657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4F1E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5623A39-070B-4001-8A32-397E380CB6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1066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AD562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AD562F"/>
                </a:solidFill>
                <a:latin typeface="Arial"/>
                <a:ea typeface="Arial"/>
                <a:cs typeface="Arial"/>
              </a:rPr>
              <a:t>AAARRR SPECIFICATION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C0CD9DF-7C57-473B-80F0-845C689B27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38200"/>
            <a:ext cx="10953750" cy="1085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202D2A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202D2A"/>
                </a:solidFill>
                <a:latin typeface="Arial"/>
                <a:ea typeface="Arial"/>
                <a:cs typeface="Arial"/>
              </a:rPr>
              <a:t>Measurement follows delivered value,</a:t>
            </a:r>
          </a:p>
          <a:p xmlns:a="http://schemas.openxmlformats.org/drawingml/2006/main">
            <a:pPr>
              <a:defRPr sz="3300" b="1">
                <a:solidFill>
                  <a:srgbClr val="202D2A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202D2A"/>
                </a:solidFill>
                <a:latin typeface="Arial"/>
                <a:ea typeface="Arial"/>
                <a:cs typeface="Arial"/>
              </a:rPr>
              <a:t>not activity alone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0D9B77F-A154-4A53-9CD8-10AE7D485F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674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8CB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10D0448-6C27-48BF-874A-36A4162E45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0325"/>
            <a:ext cx="10287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6635C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6635C"/>
                </a:solidFill>
                <a:latin typeface="Arial"/>
                <a:ea typeface="Arial"/>
                <a:cs typeface="Arial"/>
              </a:rPr>
              <a:t>Titash Sinha  /  Independent, AI-assisted work sample  /  6 October 2026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A490AA3-4851-4248-B4D5-BFB0B56B9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10325"/>
            <a:ext cx="5334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6635C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6635C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8989375-6A52-43BD-98BC-468B732D66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95500"/>
            <a:ext cx="22669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202D2A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202D2A"/>
                </a:solidFill>
                <a:latin typeface="Arial"/>
                <a:ea typeface="Arial"/>
                <a:cs typeface="Arial"/>
              </a:rPr>
              <a:t>Awareness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2690C58-8951-4E8E-8152-7FEF5B8FD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9925" y="2095500"/>
            <a:ext cx="83629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202D2A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02D2A"/>
                </a:solidFill>
                <a:latin typeface="Arial"/>
                <a:ea typeface="Arial"/>
                <a:cs typeface="Arial"/>
              </a:rPr>
              <a:t>Fixed query/prompt observations, not market share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064BFA6-3D45-404F-BEEF-56F755F22D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0"/>
            <a:ext cx="22669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202D2A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202D2A"/>
                </a:solidFill>
                <a:latin typeface="Arial"/>
                <a:ea typeface="Arial"/>
                <a:cs typeface="Arial"/>
              </a:rPr>
              <a:t>Acquisition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700609C-64D9-4B5A-A979-E7A04C9BD7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9925" y="2667000"/>
            <a:ext cx="83629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202D2A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02D2A"/>
                </a:solidFill>
                <a:latin typeface="Arial"/>
                <a:ea typeface="Arial"/>
                <a:cs typeface="Arial"/>
              </a:rPr>
              <a:t>Eligible route sessions and explicit evaluation actions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C924482-7EE5-4547-B101-6B697B05A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0"/>
            <a:ext cx="22669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202D2A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202D2A"/>
                </a:solidFill>
                <a:latin typeface="Arial"/>
                <a:ea typeface="Arial"/>
                <a:cs typeface="Arial"/>
              </a:rPr>
              <a:t>Activation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BC40D15-8575-43CA-B573-89A02E351B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9925" y="3238500"/>
            <a:ext cx="83629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202D2A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02D2A"/>
                </a:solidFill>
                <a:latin typeface="Arial"/>
                <a:ea typeface="Arial"/>
                <a:cs typeface="Arial"/>
              </a:rPr>
              <a:t>User-confirmed useful delivery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E4BD92D-16F5-440B-AEE5-B0C40A50B2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0"/>
            <a:ext cx="22669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202D2A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202D2A"/>
                </a:solidFill>
                <a:latin typeface="Arial"/>
                <a:ea typeface="Arial"/>
                <a:cs typeface="Arial"/>
              </a:rPr>
              <a:t>Retention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3DF639F-CFC7-464F-BE77-810A5A37F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9925" y="3810000"/>
            <a:ext cx="83629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202D2A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02D2A"/>
                </a:solidFill>
                <a:latin typeface="Arial"/>
                <a:ea typeface="Arial"/>
                <a:cs typeface="Arial"/>
              </a:rPr>
              <a:t>Another distinct job; cadence still unknown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A68657A-10F3-40AE-B30F-6E9B439E7A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81500"/>
            <a:ext cx="22669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202D2A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202D2A"/>
                </a:solidFill>
                <a:latin typeface="Arial"/>
                <a:ea typeface="Arial"/>
                <a:cs typeface="Arial"/>
              </a:rPr>
              <a:t>Revenue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B25398C-938D-479F-A95F-65332F5F4C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9925" y="4381500"/>
            <a:ext cx="83629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202D2A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02D2A"/>
                </a:solidFill>
                <a:latin typeface="Arial"/>
                <a:ea typeface="Arial"/>
                <a:cs typeface="Arial"/>
              </a:rPr>
              <a:t>Settled paid access; refunds and net revenue separate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0C7F17B-F427-4CC2-8F35-D7A18DD73D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0"/>
            <a:ext cx="22669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202D2A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202D2A"/>
                </a:solidFill>
                <a:latin typeface="Arial"/>
                <a:ea typeface="Arial"/>
                <a:cs typeface="Arial"/>
              </a:rPr>
              <a:t>Referral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455ECBF-B2A9-4414-AE2A-F7C6A9A34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9925" y="4953000"/>
            <a:ext cx="83629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202D2A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02D2A"/>
                </a:solidFill>
                <a:latin typeface="Arial"/>
                <a:ea typeface="Arial"/>
                <a:cs typeface="Arial"/>
              </a:rPr>
              <a:t>Attributable new account reaching useful delivery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8D1E6F2-B81D-415F-BB26-BAA7527321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43575"/>
            <a:ext cx="10972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56635C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6635C"/>
                </a:solidFill>
                <a:latin typeface="Arial"/>
                <a:ea typeface="Arial"/>
                <a:cs typeface="Arial"/>
              </a:rPr>
              <a:t>6 stages / 12 proposed event contracts. No instrumented events, company baseline or growth result.</a:t>
            </a:r>
          </a:p>
        </p:txBody>
      </p:sp>
    </p:spTree>
    <p:extLst>
      <p:ext uri="{BB962C8B-B14F-4D97-AF65-F5344CB8AC3E}">
        <p14:creationId xmlns:p14="http://schemas.microsoft.com/office/powerpoint/2010/main" val="1298460819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4F1E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B594BE0-CC67-4106-BD96-C0C9A9B53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1066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AD562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AD562F"/>
                </a:solidFill>
                <a:latin typeface="Arial"/>
                <a:ea typeface="Arial"/>
                <a:cs typeface="Arial"/>
              </a:rPr>
              <a:t>PRIORITIZED PROSPECTIVE BACKLOG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EF1B3B7-A6AC-4FCC-B643-1A72C1866C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38200"/>
            <a:ext cx="10953750" cy="1085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202D2A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202D2A"/>
                </a:solidFill>
                <a:latin typeface="Arial"/>
                <a:ea typeface="Arial"/>
                <a:cs typeface="Arial"/>
              </a:rPr>
              <a:t>Test comprehension first.</a:t>
            </a:r>
          </a:p>
          <a:p xmlns:a="http://schemas.openxmlformats.org/drawingml/2006/main">
            <a:pPr>
              <a:defRPr sz="3300" b="1">
                <a:solidFill>
                  <a:srgbClr val="202D2A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202D2A"/>
                </a:solidFill>
                <a:latin typeface="Arial"/>
                <a:ea typeface="Arial"/>
                <a:cs typeface="Arial"/>
              </a:rPr>
              <a:t>Product proof and commercial impact come later.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98618E9-051F-4F78-B28A-D092536BC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674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8CB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3340774-C619-4387-BFE9-05F90C9401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0325"/>
            <a:ext cx="10287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6635C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6635C"/>
                </a:solidFill>
                <a:latin typeface="Arial"/>
                <a:ea typeface="Arial"/>
                <a:cs typeface="Arial"/>
              </a:rPr>
              <a:t>Titash Sinha  /  Independent, AI-assisted work sample  /  6 October 2026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A87A662-777F-4753-8333-AF5D392B6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10325"/>
            <a:ext cx="5334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6635C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6635C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F22F3BB-1279-4281-A2B7-8425D4367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71700"/>
            <a:ext cx="10572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202D2A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202D2A"/>
                </a:solidFill>
                <a:latin typeface="Arial"/>
                <a:ea typeface="Arial"/>
                <a:cs typeface="Arial"/>
              </a:rPr>
              <a:t>EX02  Page comprehension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4C8A5A6-6639-45D8-95F7-A2E1A6F97C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19375"/>
            <a:ext cx="105727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202D2A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202D2A"/>
                </a:solidFill>
                <a:latin typeface="Arial"/>
                <a:ea typeface="Arial"/>
                <a:cs typeface="Arial"/>
              </a:rPr>
              <a:t>Can readers identify the task, proof and next action?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9459A20-1B9C-4C80-AF41-0ADE5ADF4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19450"/>
            <a:ext cx="10572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202D2A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202D2A"/>
                </a:solidFill>
                <a:latin typeface="Arial"/>
                <a:ea typeface="Arial"/>
                <a:cs typeface="Arial"/>
              </a:rPr>
              <a:t>EX03  Offer comprehension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4936585-8DB3-4689-B28D-FB0F7D807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67125"/>
            <a:ext cx="105727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202D2A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202D2A"/>
                </a:solidFill>
                <a:latin typeface="Arial"/>
                <a:ea typeface="Arial"/>
                <a:cs typeface="Arial"/>
              </a:rPr>
              <a:t>Only after company-confirmed terms and relevant confusion.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6ECF904-5150-470B-986C-BEB9911193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67200"/>
            <a:ext cx="10572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202D2A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202D2A"/>
                </a:solidFill>
                <a:latin typeface="Arial"/>
                <a:ea typeface="Arial"/>
                <a:cs typeface="Arial"/>
              </a:rPr>
              <a:t>EX04  Genuine correction comparison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DD0CCD3-4281-4E77-872A-0107FA98F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14875"/>
            <a:ext cx="105727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202D2A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202D2A"/>
                </a:solidFill>
                <a:latin typeface="Arial"/>
                <a:ea typeface="Arial"/>
                <a:cs typeface="Arial"/>
              </a:rPr>
              <a:t>Same inputs; record all work, failures and access constraints.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55C84C4-1E3C-4F24-A8C5-11D32316E3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43575"/>
            <a:ext cx="10972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56635C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6635C"/>
                </a:solidFill>
                <a:latin typeface="Arial"/>
                <a:ea typeface="Arial"/>
                <a:cs typeface="Arial"/>
              </a:rPr>
              <a:t>Then EX05 article usefulness and EX06 company-route testing. Proposed; no result or uplift forecast.</a:t>
            </a:r>
          </a:p>
        </p:txBody>
      </p:sp>
    </p:spTree>
    <p:extLst>
      <p:ext uri="{BB962C8B-B14F-4D97-AF65-F5344CB8AC3E}">
        <p14:creationId xmlns:p14="http://schemas.microsoft.com/office/powerpoint/2010/main" val="1316413680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4F1E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00502D6-8B1A-47FD-96CB-EF5D8AEAB5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1066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AD562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AD562F"/>
                </a:solidFill>
                <a:latin typeface="Arial"/>
                <a:ea typeface="Arial"/>
                <a:cs typeface="Arial"/>
              </a:rPr>
              <a:t>HANDOFF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5A69622-DD34-4236-9E23-9DEA36408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38200"/>
            <a:ext cx="10953750" cy="1085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202D2A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202D2A"/>
                </a:solidFill>
                <a:latin typeface="Arial"/>
                <a:ea typeface="Arial"/>
                <a:cs typeface="Arial"/>
              </a:rPr>
              <a:t>A reviewable contribution,</a:t>
            </a:r>
          </a:p>
          <a:p xmlns:a="http://schemas.openxmlformats.org/drawingml/2006/main">
            <a:pPr>
              <a:defRPr sz="3300" b="1">
                <a:solidFill>
                  <a:srgbClr val="202D2A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202D2A"/>
                </a:solidFill>
                <a:latin typeface="Arial"/>
                <a:ea typeface="Arial"/>
                <a:cs typeface="Arial"/>
              </a:rPr>
              <a:t>with clear ownership and limits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3E40C4F-9D08-490C-AA7A-936EAD3E0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674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8CB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49836E8-3376-41AF-BC44-C5C58E892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0325"/>
            <a:ext cx="10287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6635C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6635C"/>
                </a:solidFill>
                <a:latin typeface="Arial"/>
                <a:ea typeface="Arial"/>
                <a:cs typeface="Arial"/>
              </a:rPr>
              <a:t>Titash Sinha  /  Independent, AI-assisted work sample  /  6 October 2026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3780C42-01A0-4158-A71F-A3A4FFA2AB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10325"/>
            <a:ext cx="5334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6635C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6635C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DADA796-A82E-4FDB-A3D9-85B564FEE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09800"/>
            <a:ext cx="4953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AD562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AD562F"/>
                </a:solidFill>
                <a:latin typeface="Arial"/>
                <a:ea typeface="Arial"/>
                <a:cs typeface="Arial"/>
              </a:rPr>
              <a:t>TITASH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E195BD7-FCB2-4B3D-89AA-36BD4BC16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14625"/>
            <a:ext cx="5143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202D2A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202D2A"/>
                </a:solidFill>
                <a:latin typeface="Arial"/>
                <a:ea typeface="Arial"/>
                <a:cs typeface="Arial"/>
              </a:rPr>
              <a:t>Set scope, challenged switching assumptions</a:t>
            </a:r>
          </a:p>
          <a:p xmlns:a="http://schemas.openxmlformats.org/drawingml/2006/main">
            <a:pPr>
              <a:defRPr sz="1950" b="0">
                <a:solidFill>
                  <a:srgbClr val="202D2A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202D2A"/>
                </a:solidFill>
                <a:latin typeface="Arial"/>
                <a:ea typeface="Arial"/>
                <a:cs typeface="Arial"/>
              </a:rPr>
              <a:t>and directed the work-sample decisions.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E397A4A-6CDE-4108-BC9E-F88D2D97B7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209800"/>
            <a:ext cx="4953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AD562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AD562F"/>
                </a:solidFill>
                <a:latin typeface="Arial"/>
                <a:ea typeface="Arial"/>
                <a:cs typeface="Arial"/>
              </a:rPr>
              <a:t>AI ASSISTANCE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D3F87DF-C74B-4872-8396-41CBC9FBAA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714625"/>
            <a:ext cx="5191125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202D2A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202D2A"/>
                </a:solidFill>
                <a:latin typeface="Arial"/>
                <a:ea typeface="Arial"/>
                <a:cs typeface="Arial"/>
              </a:rPr>
              <a:t>Public research, synthesis, drafting,</a:t>
            </a:r>
          </a:p>
          <a:p xmlns:a="http://schemas.openxmlformats.org/drawingml/2006/main">
            <a:pPr>
              <a:defRPr sz="1950" b="0">
                <a:solidFill>
                  <a:srgbClr val="202D2A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202D2A"/>
                </a:solidFill>
                <a:latin typeface="Arial"/>
                <a:ea typeface="Arial"/>
                <a:cs typeface="Arial"/>
              </a:rPr>
              <a:t>editorial correction and package checks.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120218A-9395-4AF8-85AA-1C77E356E2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05300"/>
            <a:ext cx="10972800" cy="1076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8DE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1A7528A-179E-4C8C-BCC8-A63BE5FEA2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476750"/>
            <a:ext cx="104584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202D2A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202D2A"/>
                </a:solidFill>
                <a:latin typeface="Arial"/>
                <a:ea typeface="Arial"/>
                <a:cs typeface="Arial"/>
              </a:rPr>
              <a:t>Next business action: authorized founder handoff with usable access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5B1BF3D-35E1-4577-9210-969CF33A0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953000"/>
            <a:ext cx="1038225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202D2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02D2A"/>
                </a:solidFill>
                <a:latin typeface="Arial"/>
                <a:ea typeface="Arial"/>
                <a:cs typeface="Arial"/>
              </a:rPr>
              <a:t>Then company/editor review, confirmed proof and terms, and prioritized testing.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B724D79-72BF-4421-9DEC-DA35E6105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43575"/>
            <a:ext cx="10972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56635C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6635C"/>
                </a:solidFill>
                <a:latin typeface="Arial"/>
                <a:ea typeface="Arial"/>
                <a:cs typeface="Arial"/>
              </a:rPr>
              <a:t>Pitch is UNSENT. No affiliation, product access, completed validation or company outcome claimed.</a:t>
            </a:r>
          </a:p>
        </p:txBody>
      </p:sp>
    </p:spTree>
    <p:extLst>
      <p:ext uri="{BB962C8B-B14F-4D97-AF65-F5344CB8AC3E}">
        <p14:creationId xmlns:p14="http://schemas.microsoft.com/office/powerpoint/2010/main" val="161167277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2026-10-06T14:00:12.5940000Z</dcterms:created>
  <dcterms:modified xsi:type="dcterms:W3CDTF">2026-10-06T14:00:12.5940000Z</dcterms:modified>
</coreProperties>
</file>